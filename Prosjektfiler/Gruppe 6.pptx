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19"/>
  </p:notesMasterIdLst>
  <p:handoutMasterIdLst>
    <p:handoutMasterId r:id="rId20"/>
  </p:handoutMasterIdLst>
  <p:sldIdLst>
    <p:sldId id="257" r:id="rId2"/>
    <p:sldId id="259" r:id="rId3"/>
    <p:sldId id="261" r:id="rId4"/>
    <p:sldId id="262" r:id="rId5"/>
    <p:sldId id="263" r:id="rId6"/>
    <p:sldId id="264" r:id="rId7"/>
    <p:sldId id="273" r:id="rId8"/>
    <p:sldId id="27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5" r:id="rId17"/>
    <p:sldId id="272" r:id="rId18"/>
  </p:sldIdLst>
  <p:sldSz cx="12192000" cy="6858000"/>
  <p:notesSz cx="6858000" cy="9144000"/>
  <p:defaultTextStyle>
    <a:defPPr rtl="0"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0" autoAdjust="0"/>
    <p:restoredTop sz="93250" autoAdjust="0"/>
  </p:normalViewPr>
  <p:slideViewPr>
    <p:cSldViewPr snapToGrid="0">
      <p:cViewPr varScale="1">
        <p:scale>
          <a:sx n="57" d="100"/>
          <a:sy n="57" d="100"/>
        </p:scale>
        <p:origin x="102" y="10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overskrif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Plassholder for dato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0B6D8C6-2B99-42D2-8622-C8161C8E276C}" type="datetime1">
              <a:rPr lang="nb-NO" smtClean="0"/>
              <a:t>27.10.2025</a:t>
            </a:fld>
            <a:endParaRPr lang="en-US" dirty="0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441A4DA-DCF5-4ABF-9D69-7E96548FB3FF}" type="datetime1">
              <a:rPr lang="nb-NO" smtClean="0"/>
              <a:t>27.10.2025</a:t>
            </a:fld>
            <a:endParaRPr lang="en-US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nb-no"/>
              <a:t>Klikk for å redigere tekststiler i malen</a:t>
            </a:r>
            <a:endParaRPr lang="en-US"/>
          </a:p>
          <a:p>
            <a:pPr lvl="1" rtl="0"/>
            <a:r>
              <a:rPr lang="nb-no"/>
              <a:t>Andre nivå</a:t>
            </a:r>
          </a:p>
          <a:p>
            <a:pPr lvl="2" rtl="0"/>
            <a:r>
              <a:rPr lang="nb-no"/>
              <a:t>Tredje nivå</a:t>
            </a:r>
          </a:p>
          <a:p>
            <a:pPr lvl="3" rtl="0"/>
            <a:r>
              <a:rPr lang="nb-no"/>
              <a:t>Fjerde nivå</a:t>
            </a:r>
          </a:p>
          <a:p>
            <a:pPr lvl="4" rtl="0"/>
            <a:r>
              <a:rPr lang="nb-no"/>
              <a:t>Femte nivå</a:t>
            </a:r>
            <a:endParaRPr lang="en-US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ktangel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nb-NO"/>
              <a:t>Klikk for å redigere undertittelstil i malen</a:t>
            </a:r>
            <a:endParaRPr lang="en-US" dirty="0"/>
          </a:p>
        </p:txBody>
      </p:sp>
      <p:cxnSp>
        <p:nvCxnSpPr>
          <p:cNvPr id="9" name="Rett linje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586FA8-AEEF-42C1-B55E-8229398A54EE}" type="datetime1">
              <a:rPr lang="nb-NO" smtClean="0"/>
              <a:t>27.10.2025</a:t>
            </a:fld>
            <a:endParaRPr lang="en-US" dirty="0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nb-NO"/>
              <a:t>Klikk for å redigere tekststiler i malen</a:t>
            </a:r>
          </a:p>
          <a:p>
            <a:pPr lvl="1" rtl="0"/>
            <a:r>
              <a:rPr lang="nb-NO"/>
              <a:t>Andre nivå</a:t>
            </a:r>
          </a:p>
          <a:p>
            <a:pPr lvl="2" rtl="0"/>
            <a:r>
              <a:rPr lang="nb-NO"/>
              <a:t>Tredje nivå</a:t>
            </a:r>
          </a:p>
          <a:p>
            <a:pPr lvl="3" rtl="0"/>
            <a:r>
              <a:rPr lang="nb-NO"/>
              <a:t>Fjerde nivå</a:t>
            </a:r>
          </a:p>
          <a:p>
            <a:pPr lvl="4" rtl="0"/>
            <a:r>
              <a:rPr lang="nb-NO"/>
              <a:t>Femte nivå</a:t>
            </a:r>
            <a:endParaRPr lang="en-US" dirty="0"/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D99FE8D-F23E-4315-9473-C90F441FE926}" type="datetime1">
              <a:rPr lang="nb-NO" smtClean="0"/>
              <a:t>27.10.2025</a:t>
            </a:fld>
            <a:endParaRPr lang="en-US" dirty="0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Deloverskri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ktangel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nb-NO"/>
              <a:t>Klikk for å redigere tekststiler i malen</a:t>
            </a:r>
          </a:p>
        </p:txBody>
      </p:sp>
      <p:cxnSp>
        <p:nvCxnSpPr>
          <p:cNvPr id="9" name="Rett linje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D80DE5E-A60E-49F7-B3D6-24F826BE3B2F}" type="datetime1">
              <a:rPr lang="nb-NO" smtClean="0"/>
              <a:t>27.10.2025</a:t>
            </a:fld>
            <a:endParaRPr lang="en-US" dirty="0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Plassholder for lysbildenumm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tel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Plassholder for innhold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nb-NO"/>
              <a:t>Klikk for å redigere tekststiler i malen</a:t>
            </a:r>
          </a:p>
          <a:p>
            <a:pPr lvl="1" rtl="0"/>
            <a:r>
              <a:rPr lang="nb-NO"/>
              <a:t>Andre nivå</a:t>
            </a:r>
          </a:p>
          <a:p>
            <a:pPr lvl="2" rtl="0"/>
            <a:r>
              <a:rPr lang="nb-NO"/>
              <a:t>Tredje nivå</a:t>
            </a:r>
          </a:p>
          <a:p>
            <a:pPr lvl="3" rtl="0"/>
            <a:r>
              <a:rPr lang="nb-NO"/>
              <a:t>Fjerde nivå</a:t>
            </a:r>
          </a:p>
          <a:p>
            <a:pPr lvl="4" rtl="0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nb-NO"/>
              <a:t>Klikk for å redigere tekststiler i malen</a:t>
            </a:r>
          </a:p>
          <a:p>
            <a:pPr lvl="1" rtl="0"/>
            <a:r>
              <a:rPr lang="nb-NO"/>
              <a:t>Andre nivå</a:t>
            </a:r>
          </a:p>
          <a:p>
            <a:pPr lvl="2" rtl="0"/>
            <a:r>
              <a:rPr lang="nb-NO"/>
              <a:t>Tredje nivå</a:t>
            </a:r>
          </a:p>
          <a:p>
            <a:pPr lvl="3" rtl="0"/>
            <a:r>
              <a:rPr lang="nb-NO"/>
              <a:t>Fjerde nivå</a:t>
            </a:r>
          </a:p>
          <a:p>
            <a:pPr lvl="4" rtl="0"/>
            <a:r>
              <a:rPr lang="nb-NO"/>
              <a:t>Femte nivå</a:t>
            </a:r>
            <a:endParaRPr lang="en-US" dirty="0"/>
          </a:p>
        </p:txBody>
      </p:sp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0A22CD3-BCD4-4D11-AFEE-32C56B651C7F}" type="datetime1">
              <a:rPr lang="nb-NO" smtClean="0"/>
              <a:t>27.10.2025</a:t>
            </a:fld>
            <a:endParaRPr lang="en-US" dirty="0"/>
          </a:p>
        </p:txBody>
      </p:sp>
      <p:sp>
        <p:nvSpPr>
          <p:cNvPr id="9" name="Plassholder for bunntekst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Plassholder for lysbildenumm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tel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nb-NO"/>
              <a:t>Klikk for å redigere tekststiler i malen</a:t>
            </a:r>
          </a:p>
          <a:p>
            <a:pPr lvl="1" rtl="0"/>
            <a:r>
              <a:rPr lang="nb-NO"/>
              <a:t>Andre nivå</a:t>
            </a:r>
          </a:p>
          <a:p>
            <a:pPr lvl="2" rtl="0"/>
            <a:r>
              <a:rPr lang="nb-NO"/>
              <a:t>Tredje nivå</a:t>
            </a:r>
          </a:p>
          <a:p>
            <a:pPr lvl="3" rtl="0"/>
            <a:r>
              <a:rPr lang="nb-NO"/>
              <a:t>Fjerde nivå</a:t>
            </a:r>
          </a:p>
          <a:p>
            <a:pPr lvl="4" rtl="0"/>
            <a:r>
              <a:rPr lang="nb-NO"/>
              <a:t>Femte nivå</a:t>
            </a:r>
            <a:endParaRPr lang="en-US" dirty="0"/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nb-NO"/>
              <a:t>Klikk for å redigere tekststiler i malen</a:t>
            </a:r>
          </a:p>
          <a:p>
            <a:pPr lvl="1" rtl="0"/>
            <a:r>
              <a:rPr lang="nb-NO"/>
              <a:t>Andre nivå</a:t>
            </a:r>
          </a:p>
          <a:p>
            <a:pPr lvl="2" rtl="0"/>
            <a:r>
              <a:rPr lang="nb-NO"/>
              <a:t>Tredje nivå</a:t>
            </a:r>
          </a:p>
          <a:p>
            <a:pPr lvl="3" rtl="0"/>
            <a:r>
              <a:rPr lang="nb-NO"/>
              <a:t>Fjerde nivå</a:t>
            </a:r>
          </a:p>
          <a:p>
            <a:pPr lvl="4" rtl="0"/>
            <a:r>
              <a:rPr lang="nb-NO"/>
              <a:t>Femte nivå</a:t>
            </a:r>
            <a:endParaRPr lang="en-US" dirty="0"/>
          </a:p>
        </p:txBody>
      </p:sp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33515BF-C9AE-417F-B39D-2D27D088BCD1}" type="datetime1">
              <a:rPr lang="nb-NO" smtClean="0"/>
              <a:t>27.10.2025</a:t>
            </a:fld>
            <a:endParaRPr lang="en-US" dirty="0"/>
          </a:p>
        </p:txBody>
      </p:sp>
      <p:sp>
        <p:nvSpPr>
          <p:cNvPr id="11" name="Plassholder for bunntekst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Plassholder for lysbildenumm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6" name="Plassholder for dato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3C6A378-C95B-477E-AEE3-1B4021C254C8}" type="datetime1">
              <a:rPr lang="nb-NO" smtClean="0"/>
              <a:t>27.10.2025</a:t>
            </a:fld>
            <a:endParaRPr lang="en-US" dirty="0"/>
          </a:p>
        </p:txBody>
      </p:sp>
      <p:sp>
        <p:nvSpPr>
          <p:cNvPr id="7" name="Plassholder for bunntekst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Plassholder for lysbildenumm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ktangel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C49961-A932-482B-B607-10970679991C}" type="datetime1">
              <a:rPr lang="nb-NO" smtClean="0"/>
              <a:t>27.10.2025</a:t>
            </a:fld>
            <a:endParaRPr lang="en-US" dirty="0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nhold med bilde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nb-NO"/>
              <a:t>Klikk for å redigere tekststiler i malen</a:t>
            </a:r>
          </a:p>
          <a:p>
            <a:pPr lvl="1" rtl="0"/>
            <a:r>
              <a:rPr lang="nb-NO"/>
              <a:t>Andre nivå</a:t>
            </a:r>
          </a:p>
          <a:p>
            <a:pPr lvl="2" rtl="0"/>
            <a:r>
              <a:rPr lang="nb-NO"/>
              <a:t>Tredje nivå</a:t>
            </a:r>
          </a:p>
          <a:p>
            <a:pPr lvl="3" rtl="0"/>
            <a:r>
              <a:rPr lang="nb-NO"/>
              <a:t>Fjerde nivå</a:t>
            </a:r>
          </a:p>
          <a:p>
            <a:pPr lvl="4" rtl="0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Plassholder for tekst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792A8DAA-5938-410F-B199-A48C0E65C6DC}" type="datetime1">
              <a:rPr lang="nb-NO" smtClean="0"/>
              <a:t>27.10.2025</a:t>
            </a:fld>
            <a:endParaRPr lang="en-US" dirty="0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e med bilde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lassholder for bilde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4" name="Plassholder for tekst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60B21B89-2B1F-4920-9AEC-502C04123333}" type="datetime1">
              <a:rPr lang="nb-NO" smtClean="0"/>
              <a:t>27.10.2025</a:t>
            </a:fld>
            <a:endParaRPr lang="en-US" dirty="0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tel og 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Plassholder for loddrett tekst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nb-NO"/>
              <a:t>Klikk for å redigere tekststiler i malen</a:t>
            </a:r>
          </a:p>
          <a:p>
            <a:pPr lvl="1" rtl="0"/>
            <a:r>
              <a:rPr lang="nb-NO"/>
              <a:t>Andre nivå</a:t>
            </a:r>
          </a:p>
          <a:p>
            <a:pPr lvl="2" rtl="0"/>
            <a:r>
              <a:rPr lang="nb-NO"/>
              <a:t>Tredje nivå</a:t>
            </a:r>
          </a:p>
          <a:p>
            <a:pPr lvl="3" rtl="0"/>
            <a:r>
              <a:rPr lang="nb-NO"/>
              <a:t>Fjerde nivå</a:t>
            </a:r>
          </a:p>
          <a:p>
            <a:pPr lvl="4" rtl="0"/>
            <a:r>
              <a:rPr lang="nb-NO"/>
              <a:t>Femte nivå</a:t>
            </a:r>
            <a:endParaRPr lang="en-US" dirty="0"/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F749162-EBA1-4FF7-8164-7491D19BEB71}" type="datetime1">
              <a:rPr lang="nb-NO" smtClean="0"/>
              <a:t>27.10.2025</a:t>
            </a:fld>
            <a:endParaRPr lang="en-US" dirty="0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ktangel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Loddrett tittel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/>
          <a:p>
            <a:pPr rtl="0"/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Plassholder for loddrett tekst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nb-NO"/>
              <a:t>Klikk for å redigere tekststiler i malen</a:t>
            </a:r>
          </a:p>
          <a:p>
            <a:pPr lvl="1" rtl="0"/>
            <a:r>
              <a:rPr lang="nb-NO"/>
              <a:t>Andre nivå</a:t>
            </a:r>
          </a:p>
          <a:p>
            <a:pPr lvl="2" rtl="0"/>
            <a:r>
              <a:rPr lang="nb-NO"/>
              <a:t>Tredje nivå</a:t>
            </a:r>
          </a:p>
          <a:p>
            <a:pPr lvl="3" rtl="0"/>
            <a:r>
              <a:rPr lang="nb-NO"/>
              <a:t>Fjerde nivå</a:t>
            </a:r>
          </a:p>
          <a:p>
            <a:pPr lvl="4" rtl="0"/>
            <a:r>
              <a:rPr lang="nb-NO"/>
              <a:t>Femte nivå</a:t>
            </a:r>
            <a:endParaRPr lang="en-US" dirty="0"/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3BF633-B642-49E9-9467-E1BAD77D5CF9}" type="datetime1">
              <a:rPr lang="nb-NO" smtClean="0"/>
              <a:t>27.10.2025</a:t>
            </a:fld>
            <a:endParaRPr lang="en-US" dirty="0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Plassholder for lysbildenumm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sp>
        <p:nvSpPr>
          <p:cNvPr id="2" name="Plassholder for tittel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nb-no"/>
              <a:t>Klikk for å redigere tittelstil i malen</a:t>
            </a:r>
            <a:endParaRPr lang="en-US" dirty="0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nb-no"/>
              <a:t>Klikk for å redigere tekststiler i malen</a:t>
            </a:r>
          </a:p>
          <a:p>
            <a:pPr lvl="1" rtl="0"/>
            <a:r>
              <a:rPr lang="nb-no"/>
              <a:t>Andre nivå</a:t>
            </a:r>
          </a:p>
          <a:p>
            <a:pPr lvl="2" rtl="0"/>
            <a:r>
              <a:rPr lang="nb-no"/>
              <a:t>Tredje nivå</a:t>
            </a:r>
          </a:p>
          <a:p>
            <a:pPr lvl="3" rtl="0"/>
            <a:r>
              <a:rPr lang="nb-no"/>
              <a:t>Fjerde nivå</a:t>
            </a:r>
          </a:p>
          <a:p>
            <a:pPr lvl="4" rtl="0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05229D80-780C-459A-B318-BB09C5E817BE}" type="datetime1">
              <a:rPr lang="nb-NO" smtClean="0"/>
              <a:t>27.10.2025</a:t>
            </a:fld>
            <a:endParaRPr lang="en-US" dirty="0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Rett linje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ktangel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 rtlCol="0">
            <a:normAutofit/>
          </a:bodyPr>
          <a:lstStyle/>
          <a:p>
            <a:pPr rtl="0"/>
            <a:r>
              <a:rPr lang="nb-no" sz="8000" dirty="0"/>
              <a:t>Gruppe 6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 rtlCol="0">
            <a:normAutofit/>
          </a:bodyPr>
          <a:lstStyle/>
          <a:p>
            <a:pPr rtl="0"/>
            <a:r>
              <a:rPr lang="nb-NO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r>
              <a:rPr lang="nb-no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INAL 2 WEEKS</a:t>
            </a:r>
            <a:br>
              <a:rPr lang="nb-no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nb-no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LETS GO!!!</a:t>
            </a:r>
            <a:endParaRPr lang="nb-no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Bilde 4" descr="Et bilde med bygning, sitter, benk, side&#10;&#10;Beskrivelse generert automatisk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Rett linje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8ABD10F-9B49-A611-5011-33311B101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987" y="615820"/>
            <a:ext cx="10058400" cy="797614"/>
          </a:xfrm>
        </p:spPr>
        <p:txBody>
          <a:bodyPr/>
          <a:lstStyle/>
          <a:p>
            <a:pPr algn="ctr"/>
            <a:r>
              <a:rPr lang="nb-NO" dirty="0"/>
              <a:t>Deadlines</a:t>
            </a:r>
          </a:p>
        </p:txBody>
      </p:sp>
      <p:graphicFrame>
        <p:nvGraphicFramePr>
          <p:cNvPr id="5" name="Plassholder for innhold 4">
            <a:extLst>
              <a:ext uri="{FF2B5EF4-FFF2-40B4-BE49-F238E27FC236}">
                <a16:creationId xmlns:a16="http://schemas.microsoft.com/office/drawing/2014/main" id="{6CA6BA93-4013-4703-2AC4-36A41BD36C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1526539"/>
              </p:ext>
            </p:extLst>
          </p:nvPr>
        </p:nvGraphicFramePr>
        <p:xfrm>
          <a:off x="1418253" y="2198071"/>
          <a:ext cx="10379949" cy="3829504"/>
        </p:xfrm>
        <a:graphic>
          <a:graphicData uri="http://schemas.openxmlformats.org/drawingml/2006/table">
            <a:tbl>
              <a:tblPr/>
              <a:tblGrid>
                <a:gridCol w="3459983">
                  <a:extLst>
                    <a:ext uri="{9D8B030D-6E8A-4147-A177-3AD203B41FA5}">
                      <a16:colId xmlns:a16="http://schemas.microsoft.com/office/drawing/2014/main" val="2926271254"/>
                    </a:ext>
                  </a:extLst>
                </a:gridCol>
                <a:gridCol w="3491323">
                  <a:extLst>
                    <a:ext uri="{9D8B030D-6E8A-4147-A177-3AD203B41FA5}">
                      <a16:colId xmlns:a16="http://schemas.microsoft.com/office/drawing/2014/main" val="3163219327"/>
                    </a:ext>
                  </a:extLst>
                </a:gridCol>
                <a:gridCol w="3428643">
                  <a:extLst>
                    <a:ext uri="{9D8B030D-6E8A-4147-A177-3AD203B41FA5}">
                      <a16:colId xmlns:a16="http://schemas.microsoft.com/office/drawing/2014/main" val="3849601784"/>
                    </a:ext>
                  </a:extLst>
                </a:gridCol>
              </a:tblGrid>
              <a:tr h="205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900" b="1" dirty="0"/>
                        <a:t>Date</a:t>
                      </a:r>
                      <a:endParaRPr lang="nb-NO" sz="900" dirty="0"/>
                    </a:p>
                  </a:txBody>
                  <a:tcPr marL="43227" marR="43227" marT="21614" marB="21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900" b="1" dirty="0"/>
                        <a:t>Goal / Activity</a:t>
                      </a:r>
                      <a:endParaRPr lang="nb-NO" sz="900" dirty="0"/>
                    </a:p>
                  </a:txBody>
                  <a:tcPr marL="43227" marR="43227" marT="21614" marB="21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900" b="1" dirty="0" err="1"/>
                        <a:t>Responsible</a:t>
                      </a:r>
                      <a:endParaRPr lang="nb-NO" sz="900" dirty="0"/>
                    </a:p>
                  </a:txBody>
                  <a:tcPr marL="43227" marR="43227" marT="21614" marB="21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9245111"/>
                  </a:ext>
                </a:extLst>
              </a:tr>
              <a:tr h="345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900" b="1" dirty="0" err="1"/>
                        <a:t>Oct</a:t>
                      </a:r>
                      <a:r>
                        <a:rPr lang="nb-NO" sz="900" b="1" dirty="0"/>
                        <a:t> 23</a:t>
                      </a:r>
                      <a:endParaRPr lang="nb-NO" sz="900" dirty="0"/>
                    </a:p>
                  </a:txBody>
                  <a:tcPr marL="43227" marR="43227" marT="21614" marB="21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Kick-off meeting, updated role plan approved</a:t>
                      </a:r>
                    </a:p>
                  </a:txBody>
                  <a:tcPr marL="43227" marR="43227" marT="21614" marB="21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900" dirty="0"/>
                        <a:t>Anders + All</a:t>
                      </a:r>
                    </a:p>
                  </a:txBody>
                  <a:tcPr marL="43227" marR="43227" marT="21614" marB="21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266133"/>
                  </a:ext>
                </a:extLst>
              </a:tr>
              <a:tr h="345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900" b="1" dirty="0" err="1"/>
                        <a:t>Oct</a:t>
                      </a:r>
                      <a:r>
                        <a:rPr lang="nb-NO" sz="900" b="1" dirty="0"/>
                        <a:t> 23–24</a:t>
                      </a:r>
                      <a:endParaRPr lang="nb-NO" sz="900" dirty="0"/>
                    </a:p>
                  </a:txBody>
                  <a:tcPr marL="43227" marR="43227" marT="21614" marB="21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Complete Task 1-4 (Shared genes analysis) and validate code</a:t>
                      </a:r>
                    </a:p>
                  </a:txBody>
                  <a:tcPr marL="43227" marR="43227" marT="21614" marB="21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900" dirty="0"/>
                        <a:t>Anders + Sondre + Ferhat</a:t>
                      </a:r>
                    </a:p>
                  </a:txBody>
                  <a:tcPr marL="43227" marR="43227" marT="21614" marB="21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179643"/>
                  </a:ext>
                </a:extLst>
              </a:tr>
              <a:tr h="492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900" b="1" dirty="0" err="1"/>
                        <a:t>Oct</a:t>
                      </a:r>
                      <a:r>
                        <a:rPr lang="nb-NO" sz="900" b="1" dirty="0"/>
                        <a:t> 31</a:t>
                      </a:r>
                      <a:endParaRPr lang="nb-NO" sz="900" dirty="0"/>
                    </a:p>
                  </a:txBody>
                  <a:tcPr marL="43227" marR="43227" marT="21614" marB="21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Korosh completes biomedical background (EMT, </a:t>
                      </a:r>
                      <a:r>
                        <a:rPr lang="en-US" sz="900" dirty="0" err="1"/>
                        <a:t>lncCRLA</a:t>
                      </a:r>
                      <a:r>
                        <a:rPr lang="en-US" sz="900" dirty="0"/>
                        <a:t>, NSCLC)</a:t>
                      </a:r>
                    </a:p>
                  </a:txBody>
                  <a:tcPr marL="43227" marR="43227" marT="21614" marB="21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900" dirty="0" err="1"/>
                        <a:t>Korosh</a:t>
                      </a:r>
                      <a:endParaRPr lang="nb-NO" sz="900" dirty="0"/>
                    </a:p>
                  </a:txBody>
                  <a:tcPr marL="43227" marR="43227" marT="21614" marB="21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535549"/>
                  </a:ext>
                </a:extLst>
              </a:tr>
              <a:tr h="492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900" b="1" dirty="0"/>
                        <a:t>Nov 1</a:t>
                      </a:r>
                      <a:endParaRPr lang="nb-NO" sz="900" dirty="0"/>
                    </a:p>
                  </a:txBody>
                  <a:tcPr marL="43227" marR="43227" marT="21614" marB="21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Draft writing: Methods, Results, and Discussion</a:t>
                      </a:r>
                    </a:p>
                  </a:txBody>
                  <a:tcPr marL="43227" marR="43227" marT="21614" marB="21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900" dirty="0"/>
                        <a:t>Ferhat + </a:t>
                      </a:r>
                      <a:r>
                        <a:rPr lang="nb-NO" sz="900" dirty="0" err="1"/>
                        <a:t>Korosh</a:t>
                      </a:r>
                      <a:endParaRPr lang="nb-NO" sz="900" dirty="0"/>
                    </a:p>
                  </a:txBody>
                  <a:tcPr marL="43227" marR="43227" marT="21614" marB="21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980303"/>
                  </a:ext>
                </a:extLst>
              </a:tr>
              <a:tr h="362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900" b="1" dirty="0"/>
                        <a:t>Nov 3–4</a:t>
                      </a:r>
                      <a:endParaRPr lang="nb-NO" sz="900" dirty="0"/>
                    </a:p>
                  </a:txBody>
                  <a:tcPr marL="43227" marR="43227" marT="21614" marB="21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Final integration, proofreading, and IEEE formatting</a:t>
                      </a:r>
                    </a:p>
                  </a:txBody>
                  <a:tcPr marL="43227" marR="43227" marT="21614" marB="21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900" dirty="0"/>
                        <a:t>Anders</a:t>
                      </a:r>
                    </a:p>
                  </a:txBody>
                  <a:tcPr marL="43227" marR="43227" marT="21614" marB="21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7873227"/>
                  </a:ext>
                </a:extLst>
              </a:tr>
              <a:tr h="345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900" b="1" dirty="0"/>
                        <a:t>Nov 5</a:t>
                      </a:r>
                      <a:endParaRPr lang="nb-NO" sz="900" dirty="0"/>
                    </a:p>
                  </a:txBody>
                  <a:tcPr marL="43227" marR="43227" marT="21614" marB="21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Internal review + finalize figures and references</a:t>
                      </a:r>
                    </a:p>
                  </a:txBody>
                  <a:tcPr marL="43227" marR="43227" marT="21614" marB="21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900" dirty="0"/>
                        <a:t>Whole team</a:t>
                      </a:r>
                    </a:p>
                  </a:txBody>
                  <a:tcPr marL="43227" marR="43227" marT="21614" marB="21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9597307"/>
                  </a:ext>
                </a:extLst>
              </a:tr>
              <a:tr h="345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1600" b="1" dirty="0"/>
                        <a:t>Nov 6 (deadline)</a:t>
                      </a:r>
                      <a:endParaRPr lang="nb-NO" sz="1600" dirty="0"/>
                    </a:p>
                  </a:txBody>
                  <a:tcPr marL="43227" marR="43227" marT="21614" marB="21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Submit final report via Wiseflow &amp; Moodle</a:t>
                      </a:r>
                    </a:p>
                  </a:txBody>
                  <a:tcPr marL="43227" marR="43227" marT="21614" marB="21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900" dirty="0"/>
                        <a:t>Anders</a:t>
                      </a:r>
                    </a:p>
                  </a:txBody>
                  <a:tcPr marL="43227" marR="43227" marT="21614" marB="21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270010"/>
                  </a:ext>
                </a:extLst>
              </a:tr>
              <a:tr h="345036">
                <a:tc>
                  <a:txBody>
                    <a:bodyPr/>
                    <a:lstStyle/>
                    <a:p>
                      <a:r>
                        <a:rPr lang="nb-NO" sz="900" b="1" dirty="0"/>
                        <a:t>Nov 6-7</a:t>
                      </a:r>
                    </a:p>
                  </a:txBody>
                  <a:tcPr marL="43227" marR="43227" marT="21614" marB="21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900" dirty="0" err="1"/>
                        <a:t>Prepare</a:t>
                      </a:r>
                      <a:r>
                        <a:rPr lang="nb-NO" sz="900" dirty="0"/>
                        <a:t> </a:t>
                      </a:r>
                      <a:r>
                        <a:rPr lang="nb-NO" sz="900" dirty="0" err="1"/>
                        <a:t>presentation</a:t>
                      </a:r>
                      <a:r>
                        <a:rPr lang="nb-NO" sz="900" dirty="0"/>
                        <a:t> </a:t>
                      </a:r>
                      <a:r>
                        <a:rPr lang="nb-NO" sz="900" dirty="0" err="1"/>
                        <a:t>roles</a:t>
                      </a:r>
                      <a:r>
                        <a:rPr lang="nb-NO" sz="900" dirty="0"/>
                        <a:t> + </a:t>
                      </a:r>
                      <a:r>
                        <a:rPr lang="nb-NO" sz="900" dirty="0" err="1"/>
                        <a:t>Outline</a:t>
                      </a:r>
                      <a:r>
                        <a:rPr lang="nb-NO" sz="900" dirty="0"/>
                        <a:t> </a:t>
                      </a:r>
                      <a:r>
                        <a:rPr lang="nb-NO" sz="900" dirty="0" err="1"/>
                        <a:t>objectives</a:t>
                      </a:r>
                      <a:r>
                        <a:rPr lang="nb-NO" sz="900" dirty="0"/>
                        <a:t> for </a:t>
                      </a:r>
                      <a:r>
                        <a:rPr lang="nb-NO" sz="900" dirty="0" err="1"/>
                        <a:t>presentation</a:t>
                      </a:r>
                      <a:endParaRPr lang="nb-NO" sz="900" dirty="0"/>
                    </a:p>
                  </a:txBody>
                  <a:tcPr marL="43227" marR="43227" marT="21614" marB="21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b-NO" sz="900" dirty="0"/>
                        <a:t>Anders</a:t>
                      </a:r>
                    </a:p>
                  </a:txBody>
                  <a:tcPr marL="43227" marR="43227" marT="21614" marB="21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9543509"/>
                  </a:ext>
                </a:extLst>
              </a:tr>
              <a:tr h="345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900" b="1" dirty="0"/>
                        <a:t>Nov 7–12</a:t>
                      </a:r>
                      <a:endParaRPr lang="nb-NO" sz="900" dirty="0"/>
                    </a:p>
                  </a:txBody>
                  <a:tcPr marL="43227" marR="43227" marT="21614" marB="21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Prepare presentation (slides, speaking roles, rehearsal)</a:t>
                      </a:r>
                    </a:p>
                  </a:txBody>
                  <a:tcPr marL="43227" marR="43227" marT="21614" marB="21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900" dirty="0"/>
                        <a:t>All </a:t>
                      </a:r>
                      <a:r>
                        <a:rPr lang="nb-NO" sz="900" dirty="0" err="1"/>
                        <a:t>members</a:t>
                      </a:r>
                      <a:endParaRPr lang="nb-NO" sz="900" dirty="0"/>
                    </a:p>
                  </a:txBody>
                  <a:tcPr marL="43227" marR="43227" marT="21614" marB="21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7846803"/>
                  </a:ext>
                </a:extLst>
              </a:tr>
              <a:tr h="205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900" b="1" dirty="0"/>
                        <a:t>Nov 13</a:t>
                      </a:r>
                      <a:endParaRPr lang="nb-NO" sz="900" dirty="0"/>
                    </a:p>
                  </a:txBody>
                  <a:tcPr marL="43227" marR="43227" marT="21614" marB="21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900"/>
                        <a:t>Online presentation (15 min)</a:t>
                      </a:r>
                    </a:p>
                  </a:txBody>
                  <a:tcPr marL="43227" marR="43227" marT="21614" marB="21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900" dirty="0"/>
                        <a:t>Full team</a:t>
                      </a:r>
                    </a:p>
                  </a:txBody>
                  <a:tcPr marL="43227" marR="43227" marT="21614" marB="216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6795863"/>
                  </a:ext>
                </a:extLst>
              </a:tr>
            </a:tbl>
          </a:graphicData>
        </a:graphic>
      </p:graphicFrame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56A7C22-B820-0362-922A-6A81545BB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D99FE8D-F23E-4315-9473-C90F441FE926}" type="datetime1">
              <a:rPr lang="nb-NO" smtClean="0"/>
              <a:t>27.10.2025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404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EE9EA46-951E-D851-9DA3-689AFB1B1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Roles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442E084-3C9F-E1FF-4656-F4EBF22C9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b-NO" b="1" dirty="0"/>
              <a:t>Anders</a:t>
            </a:r>
            <a:r>
              <a:rPr lang="nb-NO" dirty="0"/>
              <a:t> (Project Leader &amp; Code Integrator)</a:t>
            </a:r>
          </a:p>
          <a:p>
            <a:r>
              <a:rPr lang="en-US" dirty="0"/>
              <a:t>Project coordination, quality assurance, code integration, and final synthesis</a:t>
            </a:r>
          </a:p>
          <a:p>
            <a:r>
              <a:rPr lang="en-US" dirty="0"/>
              <a:t>- Oversee overall workflow and progress</a:t>
            </a:r>
            <a:br>
              <a:rPr lang="en-US" dirty="0"/>
            </a:br>
            <a:r>
              <a:rPr lang="en-US" dirty="0"/>
              <a:t>- Integrate sub-results from AI and pharmacology sections</a:t>
            </a:r>
            <a:br>
              <a:rPr lang="en-US" dirty="0"/>
            </a:br>
            <a:r>
              <a:rPr lang="en-US" dirty="0"/>
              <a:t>- Maintain and finalize the Python pipeline and outputs</a:t>
            </a:r>
            <a:br>
              <a:rPr lang="en-US" dirty="0"/>
            </a:br>
            <a:r>
              <a:rPr lang="en-US" dirty="0"/>
              <a:t>- Conduct QA on all models and figures</a:t>
            </a:r>
            <a:br>
              <a:rPr lang="en-US" dirty="0"/>
            </a:br>
            <a:r>
              <a:rPr lang="en-US" dirty="0"/>
              <a:t>- Lead team meetings and ensure coherence in writing</a:t>
            </a:r>
          </a:p>
          <a:p>
            <a:r>
              <a:rPr lang="en-US" dirty="0"/>
              <a:t>✅ </a:t>
            </a:r>
            <a:r>
              <a:rPr lang="en-US" i="1" dirty="0"/>
              <a:t>Milestone 1:</a:t>
            </a:r>
            <a:r>
              <a:rPr lang="en-US" dirty="0"/>
              <a:t> Functional Task 1-4 pipeline (Oct 24)</a:t>
            </a:r>
            <a:br>
              <a:rPr lang="en-US" dirty="0"/>
            </a:br>
            <a:r>
              <a:rPr lang="en-US" dirty="0"/>
              <a:t>✅ </a:t>
            </a:r>
            <a:r>
              <a:rPr lang="en-US" i="1" dirty="0"/>
              <a:t>Milestone 2:</a:t>
            </a:r>
            <a:r>
              <a:rPr lang="en-US" dirty="0"/>
              <a:t> All models tested (Oct 31)</a:t>
            </a:r>
            <a:br>
              <a:rPr lang="en-US" dirty="0"/>
            </a:br>
            <a:r>
              <a:rPr lang="en-US" dirty="0"/>
              <a:t>✅ </a:t>
            </a:r>
            <a:r>
              <a:rPr lang="en-US" i="1" dirty="0"/>
              <a:t>Milestone 3:</a:t>
            </a:r>
            <a:r>
              <a:rPr lang="en-US" dirty="0"/>
              <a:t> Final integration and QA (Nov 4)</a:t>
            </a:r>
            <a:endParaRPr lang="nb-NO" dirty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8B5E1645-87E8-915F-5B5C-6228B6348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D99FE8D-F23E-4315-9473-C90F441FE926}" type="datetime1">
              <a:rPr lang="nb-NO" smtClean="0"/>
              <a:t>27.10.2025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721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A98E409-5BBE-4A87-CB7D-0FA94AB24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Roles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8117E39-F8FD-2846-8EE4-1805E11EA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b="1" dirty="0"/>
              <a:t>Ferhat</a:t>
            </a:r>
            <a:r>
              <a:rPr lang="nb-NO" dirty="0"/>
              <a:t> (AI </a:t>
            </a:r>
            <a:r>
              <a:rPr lang="nb-NO" dirty="0" err="1"/>
              <a:t>Methodology</a:t>
            </a:r>
            <a:r>
              <a:rPr lang="nb-NO" dirty="0"/>
              <a:t> &amp; Evaluation)</a:t>
            </a:r>
          </a:p>
          <a:p>
            <a:r>
              <a:rPr lang="en-US" dirty="0"/>
              <a:t>Methodology writing, model evaluation, and theoretical grounding</a:t>
            </a:r>
          </a:p>
          <a:p>
            <a:r>
              <a:rPr lang="en-US" dirty="0"/>
              <a:t>- Write the </a:t>
            </a:r>
            <a:r>
              <a:rPr lang="en-US" i="1" dirty="0"/>
              <a:t>Methods (AI)</a:t>
            </a:r>
            <a:r>
              <a:rPr lang="en-US" dirty="0"/>
              <a:t> section</a:t>
            </a:r>
            <a:br>
              <a:rPr lang="en-US" dirty="0"/>
            </a:br>
            <a:r>
              <a:rPr lang="en-US" dirty="0"/>
              <a:t>- Evaluate and compare model performance (Tasks 1–4)</a:t>
            </a:r>
            <a:br>
              <a:rPr lang="en-US" dirty="0"/>
            </a:br>
            <a:r>
              <a:rPr lang="en-US" dirty="0"/>
              <a:t>- Link methods to theoretical content (Ch. 5, 18–20 from book)</a:t>
            </a:r>
            <a:br>
              <a:rPr lang="en-US" dirty="0"/>
            </a:br>
            <a:r>
              <a:rPr lang="en-US" dirty="0"/>
              <a:t>- Contribute to result tables and figures</a:t>
            </a:r>
          </a:p>
          <a:p>
            <a:r>
              <a:rPr lang="en-US" dirty="0"/>
              <a:t>✅ </a:t>
            </a:r>
            <a:r>
              <a:rPr lang="en-US" i="1" dirty="0"/>
              <a:t>Milestone 1:</a:t>
            </a:r>
            <a:r>
              <a:rPr lang="en-US" dirty="0"/>
              <a:t> Method draft (Oct 26)</a:t>
            </a:r>
            <a:br>
              <a:rPr lang="en-US" dirty="0"/>
            </a:br>
            <a:r>
              <a:rPr lang="en-US" dirty="0"/>
              <a:t>✅ </a:t>
            </a:r>
            <a:r>
              <a:rPr lang="en-US" i="1" dirty="0"/>
              <a:t>Milestone 2:</a:t>
            </a:r>
            <a:r>
              <a:rPr lang="en-US" dirty="0"/>
              <a:t> Completed methodology section (Oct 30)</a:t>
            </a:r>
            <a:br>
              <a:rPr lang="en-US" dirty="0"/>
            </a:br>
            <a:r>
              <a:rPr lang="en-US" dirty="0"/>
              <a:t>✅ </a:t>
            </a:r>
            <a:r>
              <a:rPr lang="en-US" i="1" dirty="0"/>
              <a:t>Milestone 3:</a:t>
            </a:r>
            <a:r>
              <a:rPr lang="en-US" dirty="0"/>
              <a:t> Final integration into report (Nov 2)</a:t>
            </a:r>
            <a:endParaRPr lang="nb-NO" dirty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4C111AF4-D8CF-75F0-001F-05D3D6CD9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D99FE8D-F23E-4315-9473-C90F441FE926}" type="datetime1">
              <a:rPr lang="nb-NO" smtClean="0"/>
              <a:t>27.10.2025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176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E69D93E-6BC5-325A-7F20-AC25EF771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Roles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DAB0D2D-F2F6-B4E4-FF74-46B682187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b="1" dirty="0"/>
              <a:t>Sondre</a:t>
            </a:r>
            <a:r>
              <a:rPr lang="nb-NO" dirty="0"/>
              <a:t> (AI Lead &amp; </a:t>
            </a:r>
            <a:r>
              <a:rPr lang="nb-NO" dirty="0" err="1"/>
              <a:t>Implementation</a:t>
            </a:r>
            <a:r>
              <a:rPr lang="nb-NO" dirty="0"/>
              <a:t>)</a:t>
            </a:r>
          </a:p>
          <a:p>
            <a:r>
              <a:rPr lang="en-US" dirty="0"/>
              <a:t>Model development, testing, and optimization</a:t>
            </a:r>
          </a:p>
          <a:p>
            <a:r>
              <a:rPr lang="nb-NO" dirty="0"/>
              <a:t>- Complete </a:t>
            </a:r>
            <a:r>
              <a:rPr lang="nb-NO" dirty="0" err="1"/>
              <a:t>Task</a:t>
            </a:r>
            <a:r>
              <a:rPr lang="nb-NO" dirty="0"/>
              <a:t> 2–4 </a:t>
            </a:r>
            <a:r>
              <a:rPr lang="nb-NO" dirty="0" err="1"/>
              <a:t>implementation</a:t>
            </a:r>
            <a:br>
              <a:rPr lang="nb-NO" dirty="0"/>
            </a:br>
            <a:r>
              <a:rPr lang="nb-NO" dirty="0"/>
              <a:t>- </a:t>
            </a:r>
            <a:r>
              <a:rPr lang="nb-NO" dirty="0" err="1"/>
              <a:t>Perform</a:t>
            </a:r>
            <a:r>
              <a:rPr lang="nb-NO" dirty="0"/>
              <a:t> </a:t>
            </a:r>
            <a:r>
              <a:rPr lang="nb-NO" dirty="0" err="1"/>
              <a:t>pathway</a:t>
            </a:r>
            <a:r>
              <a:rPr lang="nb-NO" dirty="0"/>
              <a:t> </a:t>
            </a:r>
            <a:r>
              <a:rPr lang="nb-NO" dirty="0" err="1"/>
              <a:t>analysis</a:t>
            </a:r>
            <a:r>
              <a:rPr lang="nb-NO" dirty="0"/>
              <a:t> (GSEA/ORA) and immune </a:t>
            </a:r>
            <a:r>
              <a:rPr lang="nb-NO" dirty="0" err="1"/>
              <a:t>deconvolution</a:t>
            </a:r>
            <a:r>
              <a:rPr lang="nb-NO" dirty="0"/>
              <a:t> (</a:t>
            </a:r>
            <a:r>
              <a:rPr lang="nb-NO" dirty="0" err="1"/>
              <a:t>CIBERSORTx</a:t>
            </a:r>
            <a:r>
              <a:rPr lang="nb-NO" dirty="0"/>
              <a:t>)</a:t>
            </a:r>
            <a:br>
              <a:rPr lang="nb-NO" dirty="0"/>
            </a:br>
            <a:r>
              <a:rPr lang="nb-NO" dirty="0"/>
              <a:t>- </a:t>
            </a:r>
            <a:r>
              <a:rPr lang="nb-NO" dirty="0" err="1"/>
              <a:t>Collaborate</a:t>
            </a:r>
            <a:r>
              <a:rPr lang="nb-NO" dirty="0"/>
              <a:t> </a:t>
            </a:r>
            <a:r>
              <a:rPr lang="nb-NO" dirty="0" err="1"/>
              <a:t>with</a:t>
            </a:r>
            <a:r>
              <a:rPr lang="nb-NO" dirty="0"/>
              <a:t> Anders for </a:t>
            </a:r>
            <a:r>
              <a:rPr lang="nb-NO" dirty="0" err="1"/>
              <a:t>debugging</a:t>
            </a:r>
            <a:r>
              <a:rPr lang="nb-NO" dirty="0"/>
              <a:t> and output </a:t>
            </a:r>
            <a:r>
              <a:rPr lang="nb-NO" dirty="0" err="1"/>
              <a:t>integration</a:t>
            </a:r>
            <a:br>
              <a:rPr lang="nb-NO" dirty="0"/>
            </a:br>
            <a:r>
              <a:rPr lang="nb-NO" dirty="0"/>
              <a:t>- Deliver </a:t>
            </a:r>
            <a:r>
              <a:rPr lang="nb-NO" dirty="0" err="1"/>
              <a:t>visualizations</a:t>
            </a:r>
            <a:r>
              <a:rPr lang="nb-NO" dirty="0"/>
              <a:t> and </a:t>
            </a:r>
            <a:r>
              <a:rPr lang="nb-NO" dirty="0" err="1"/>
              <a:t>tabular</a:t>
            </a:r>
            <a:r>
              <a:rPr lang="nb-NO" dirty="0"/>
              <a:t> </a:t>
            </a:r>
            <a:r>
              <a:rPr lang="nb-NO" dirty="0" err="1"/>
              <a:t>results</a:t>
            </a:r>
            <a:endParaRPr lang="nb-NO" dirty="0"/>
          </a:p>
          <a:p>
            <a:r>
              <a:rPr lang="en-US" dirty="0"/>
              <a:t>✅ </a:t>
            </a:r>
            <a:r>
              <a:rPr lang="en-US" i="1" dirty="0"/>
              <a:t>Milestone 1:</a:t>
            </a:r>
            <a:r>
              <a:rPr lang="en-US" dirty="0"/>
              <a:t> Task 2–4 code functional (Oct 25)</a:t>
            </a:r>
            <a:br>
              <a:rPr lang="en-US" dirty="0"/>
            </a:br>
            <a:r>
              <a:rPr lang="en-US" dirty="0"/>
              <a:t>✅ </a:t>
            </a:r>
            <a:r>
              <a:rPr lang="en-US" i="1" dirty="0"/>
              <a:t>Milestone 2:</a:t>
            </a:r>
            <a:r>
              <a:rPr lang="en-US" dirty="0"/>
              <a:t> Final testing complete (Oct 30)</a:t>
            </a:r>
            <a:br>
              <a:rPr lang="en-US" dirty="0"/>
            </a:br>
            <a:r>
              <a:rPr lang="en-US" dirty="0"/>
              <a:t>✅ </a:t>
            </a:r>
            <a:r>
              <a:rPr lang="en-US" i="1" dirty="0"/>
              <a:t>Milestone 3:</a:t>
            </a:r>
            <a:r>
              <a:rPr lang="en-US" dirty="0"/>
              <a:t> Cleaned scripts + outputs (Nov 3)</a:t>
            </a:r>
            <a:endParaRPr lang="nb-NO" dirty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9553B2D5-56B2-1497-DAA0-85ECB0473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D99FE8D-F23E-4315-9473-C90F441FE926}" type="datetime1">
              <a:rPr lang="nb-NO" smtClean="0"/>
              <a:t>27.10.2025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901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8354ABD-65F4-EF7D-2BEC-D97BA2A82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Roles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783C7C5-D664-579F-3A72-FF228D8AA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err="1"/>
              <a:t>Korosh</a:t>
            </a:r>
            <a:r>
              <a:rPr lang="nb-NO" dirty="0"/>
              <a:t>	(</a:t>
            </a:r>
            <a:r>
              <a:rPr lang="nb-NO" dirty="0" err="1"/>
              <a:t>Pharmacology</a:t>
            </a:r>
            <a:r>
              <a:rPr lang="nb-NO" dirty="0"/>
              <a:t> / </a:t>
            </a:r>
            <a:r>
              <a:rPr lang="nb-NO" dirty="0" err="1"/>
              <a:t>Biomedical</a:t>
            </a:r>
            <a:r>
              <a:rPr lang="nb-NO" dirty="0"/>
              <a:t> </a:t>
            </a:r>
            <a:r>
              <a:rPr lang="nb-NO" dirty="0" err="1"/>
              <a:t>Interpretation</a:t>
            </a:r>
            <a:r>
              <a:rPr lang="nb-NO" dirty="0"/>
              <a:t>)</a:t>
            </a:r>
          </a:p>
          <a:p>
            <a:r>
              <a:rPr lang="en-US" dirty="0"/>
              <a:t>Biological interpretation and discussion writing</a:t>
            </a:r>
          </a:p>
          <a:p>
            <a:r>
              <a:rPr lang="nb-NO" dirty="0"/>
              <a:t>- Interpret AI </a:t>
            </a:r>
            <a:r>
              <a:rPr lang="nb-NO" dirty="0" err="1"/>
              <a:t>findings</a:t>
            </a:r>
            <a:r>
              <a:rPr lang="nb-NO" dirty="0"/>
              <a:t> in a </a:t>
            </a:r>
            <a:r>
              <a:rPr lang="nb-NO" dirty="0" err="1"/>
              <a:t>biomedical</a:t>
            </a:r>
            <a:r>
              <a:rPr lang="nb-NO" dirty="0"/>
              <a:t> </a:t>
            </a:r>
            <a:r>
              <a:rPr lang="nb-NO" dirty="0" err="1"/>
              <a:t>context</a:t>
            </a:r>
            <a:r>
              <a:rPr lang="nb-NO" dirty="0"/>
              <a:t> (</a:t>
            </a:r>
            <a:r>
              <a:rPr lang="nb-NO" dirty="0" err="1"/>
              <a:t>Task</a:t>
            </a:r>
            <a:r>
              <a:rPr lang="nb-NO" dirty="0"/>
              <a:t> 4)</a:t>
            </a:r>
            <a:br>
              <a:rPr lang="nb-NO" dirty="0"/>
            </a:br>
            <a:r>
              <a:rPr lang="nb-NO" dirty="0"/>
              <a:t>- </a:t>
            </a:r>
            <a:r>
              <a:rPr lang="nb-NO" dirty="0" err="1"/>
              <a:t>Relate</a:t>
            </a:r>
            <a:r>
              <a:rPr lang="nb-NO" dirty="0"/>
              <a:t> </a:t>
            </a:r>
            <a:r>
              <a:rPr lang="nb-NO" dirty="0" err="1"/>
              <a:t>results</a:t>
            </a:r>
            <a:r>
              <a:rPr lang="nb-NO" dirty="0"/>
              <a:t> to cancer </a:t>
            </a:r>
            <a:r>
              <a:rPr lang="nb-NO" dirty="0" err="1"/>
              <a:t>biology</a:t>
            </a:r>
            <a:r>
              <a:rPr lang="nb-NO" dirty="0"/>
              <a:t> (</a:t>
            </a:r>
            <a:r>
              <a:rPr lang="nb-NO" dirty="0" err="1"/>
              <a:t>lncCRLA</a:t>
            </a:r>
            <a:r>
              <a:rPr lang="nb-NO" dirty="0"/>
              <a:t>, EMT, NSCLC)</a:t>
            </a:r>
            <a:br>
              <a:rPr lang="nb-NO" dirty="0"/>
            </a:br>
            <a:r>
              <a:rPr lang="nb-NO" dirty="0"/>
              <a:t>- Write </a:t>
            </a:r>
            <a:r>
              <a:rPr lang="nb-NO" i="1" dirty="0" err="1"/>
              <a:t>Results</a:t>
            </a:r>
            <a:r>
              <a:rPr lang="nb-NO" i="1" dirty="0"/>
              <a:t> &amp; </a:t>
            </a:r>
            <a:r>
              <a:rPr lang="nb-NO" i="1" dirty="0" err="1"/>
              <a:t>Discussion</a:t>
            </a:r>
            <a:r>
              <a:rPr lang="nb-NO" i="1" dirty="0"/>
              <a:t> (</a:t>
            </a:r>
            <a:r>
              <a:rPr lang="nb-NO" i="1" dirty="0" err="1"/>
              <a:t>Biological</a:t>
            </a:r>
            <a:r>
              <a:rPr lang="nb-NO" i="1" dirty="0"/>
              <a:t>)</a:t>
            </a:r>
            <a:r>
              <a:rPr lang="nb-NO" dirty="0"/>
              <a:t> </a:t>
            </a:r>
            <a:r>
              <a:rPr lang="nb-NO" dirty="0" err="1"/>
              <a:t>sections</a:t>
            </a:r>
            <a:br>
              <a:rPr lang="nb-NO" dirty="0"/>
            </a:br>
            <a:r>
              <a:rPr lang="nb-NO" dirty="0"/>
              <a:t>- Ensure </a:t>
            </a:r>
            <a:r>
              <a:rPr lang="nb-NO" dirty="0" err="1"/>
              <a:t>scientific</a:t>
            </a:r>
            <a:r>
              <a:rPr lang="nb-NO" dirty="0"/>
              <a:t> </a:t>
            </a:r>
            <a:r>
              <a:rPr lang="nb-NO" dirty="0" err="1"/>
              <a:t>validity</a:t>
            </a:r>
            <a:r>
              <a:rPr lang="nb-NO" dirty="0"/>
              <a:t> and proper </a:t>
            </a:r>
            <a:r>
              <a:rPr lang="nb-NO" dirty="0" err="1"/>
              <a:t>referencing</a:t>
            </a:r>
            <a:endParaRPr lang="nb-NO" dirty="0"/>
          </a:p>
          <a:p>
            <a:r>
              <a:rPr lang="en-US" dirty="0"/>
              <a:t>✅ </a:t>
            </a:r>
            <a:r>
              <a:rPr lang="en-US" i="1" dirty="0"/>
              <a:t>Milestone 1:</a:t>
            </a:r>
            <a:r>
              <a:rPr lang="en-US" dirty="0"/>
              <a:t> Literature review (Oct 27)</a:t>
            </a:r>
            <a:br>
              <a:rPr lang="en-US" dirty="0"/>
            </a:br>
            <a:r>
              <a:rPr lang="en-US" dirty="0"/>
              <a:t>✅ </a:t>
            </a:r>
            <a:r>
              <a:rPr lang="en-US" i="1" dirty="0"/>
              <a:t>Milestone 2:</a:t>
            </a:r>
            <a:r>
              <a:rPr lang="en-US" dirty="0"/>
              <a:t> Draft discussion (Nov 1)</a:t>
            </a:r>
            <a:br>
              <a:rPr lang="en-US" dirty="0"/>
            </a:br>
            <a:r>
              <a:rPr lang="en-US" dirty="0"/>
              <a:t>✅ </a:t>
            </a:r>
            <a:r>
              <a:rPr lang="en-US" i="1" dirty="0"/>
              <a:t>Milestone 3:</a:t>
            </a:r>
            <a:r>
              <a:rPr lang="en-US" dirty="0"/>
              <a:t> Final version integrated (Nov 4)</a:t>
            </a:r>
            <a:endParaRPr lang="nb-NO" dirty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B69D6E92-D361-CB87-9198-4DB2936D2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D99FE8D-F23E-4315-9473-C90F441FE926}" type="datetime1">
              <a:rPr lang="nb-NO" smtClean="0"/>
              <a:t>27.10.2025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813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F087712-F6CC-39F8-7658-71C6431A1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IEEE Report Format?</a:t>
            </a:r>
            <a:endParaRPr lang="nb-NO" dirty="0"/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79155D7D-6280-ED0A-B04E-A9657AE5CC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7280" y="2015068"/>
            <a:ext cx="4639736" cy="3854028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Content:</a:t>
            </a:r>
            <a:endParaRPr lang="en-US" dirty="0"/>
          </a:p>
          <a:p>
            <a:r>
              <a:rPr lang="en-US" dirty="0"/>
              <a:t>IEEE = </a:t>
            </a:r>
            <a:r>
              <a:rPr lang="en-US" i="1" dirty="0"/>
              <a:t>Institute of Electrical and Electronics Engineers</a:t>
            </a:r>
            <a:r>
              <a:rPr lang="en-US" dirty="0"/>
              <a:t> — an international professional standard for academic and technical papers.</a:t>
            </a:r>
          </a:p>
          <a:p>
            <a:r>
              <a:rPr lang="en-US" dirty="0"/>
              <a:t>Provides a </a:t>
            </a:r>
            <a:r>
              <a:rPr lang="en-US" b="1" dirty="0"/>
              <a:t>uniform structure</a:t>
            </a:r>
            <a:r>
              <a:rPr lang="en-US" dirty="0"/>
              <a:t> and </a:t>
            </a:r>
            <a:r>
              <a:rPr lang="en-US" b="1" dirty="0"/>
              <a:t>citation style</a:t>
            </a:r>
            <a:r>
              <a:rPr lang="en-US" dirty="0"/>
              <a:t> for scientific writing.</a:t>
            </a:r>
          </a:p>
          <a:p>
            <a:r>
              <a:rPr lang="en-US" dirty="0"/>
              <a:t>Used for all engineering and computer-science reports, including this project.</a:t>
            </a:r>
          </a:p>
          <a:p>
            <a:endParaRPr lang="nb-NO" dirty="0"/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4DECD377-C95D-1988-BC46-698B0B9102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5944" y="2015067"/>
            <a:ext cx="4639736" cy="3854028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Key Characteristics:</a:t>
            </a:r>
            <a:endParaRPr lang="en-US" dirty="0"/>
          </a:p>
          <a:p>
            <a:r>
              <a:rPr lang="en-US" dirty="0"/>
              <a:t>Double-column layout, professional and concise.</a:t>
            </a:r>
          </a:p>
          <a:p>
            <a:r>
              <a:rPr lang="en-US" dirty="0"/>
              <a:t>Sections in a fixed order:</a:t>
            </a:r>
          </a:p>
          <a:p>
            <a:pPr lvl="1"/>
            <a:r>
              <a:rPr lang="en-US" b="1" dirty="0"/>
              <a:t>Abstract</a:t>
            </a:r>
            <a:endParaRPr lang="en-US" dirty="0"/>
          </a:p>
          <a:p>
            <a:pPr lvl="1"/>
            <a:r>
              <a:rPr lang="en-US" b="1" dirty="0"/>
              <a:t>Introduction</a:t>
            </a:r>
            <a:endParaRPr lang="en-US" dirty="0"/>
          </a:p>
          <a:p>
            <a:pPr lvl="1"/>
            <a:r>
              <a:rPr lang="en-US" b="1" dirty="0"/>
              <a:t>Methods</a:t>
            </a:r>
            <a:endParaRPr lang="en-US" dirty="0"/>
          </a:p>
          <a:p>
            <a:pPr lvl="1"/>
            <a:r>
              <a:rPr lang="en-US" b="1" dirty="0"/>
              <a:t>Results</a:t>
            </a:r>
            <a:endParaRPr lang="en-US" dirty="0"/>
          </a:p>
          <a:p>
            <a:pPr lvl="1"/>
            <a:r>
              <a:rPr lang="en-US" b="1" dirty="0"/>
              <a:t>Discussion</a:t>
            </a:r>
            <a:endParaRPr lang="en-US" dirty="0"/>
          </a:p>
          <a:p>
            <a:pPr lvl="1"/>
            <a:r>
              <a:rPr lang="en-US" b="1" dirty="0"/>
              <a:t>Conclusion</a:t>
            </a:r>
            <a:endParaRPr lang="en-US" dirty="0"/>
          </a:p>
          <a:p>
            <a:pPr lvl="1"/>
            <a:r>
              <a:rPr lang="en-US" b="1" dirty="0"/>
              <a:t>References</a:t>
            </a:r>
            <a:r>
              <a:rPr lang="en-US" dirty="0"/>
              <a:t> (IEEE numbered style)</a:t>
            </a:r>
          </a:p>
          <a:p>
            <a:r>
              <a:rPr lang="en-US" dirty="0"/>
              <a:t>Emphasis on </a:t>
            </a:r>
            <a:r>
              <a:rPr lang="en-US" b="1" dirty="0"/>
              <a:t>clarity, reproducibility, and traceable references</a:t>
            </a:r>
            <a:r>
              <a:rPr lang="en-US" dirty="0"/>
              <a:t>.</a:t>
            </a:r>
          </a:p>
          <a:p>
            <a:endParaRPr lang="nb-NO" dirty="0"/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5AE04B74-7590-93DB-F69F-A7A58D71C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33515BF-C9AE-417F-B39D-2D27D088BCD1}" type="datetime1">
              <a:rPr lang="nb-NO" smtClean="0"/>
              <a:t>27.10.2025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6190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8CE68-DBF5-D138-1627-A2A43CC29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CE23A74-CF3C-5BAA-2164-DEB4FBC5C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Need To Do</a:t>
            </a:r>
            <a:endParaRPr lang="nb-NO" dirty="0"/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9649079F-A16B-11B0-90D4-3F4290949E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7280" y="2015068"/>
            <a:ext cx="4639736" cy="3854028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1️⃣ Format &amp; Structure</a:t>
            </a:r>
            <a:endParaRPr lang="en-US" dirty="0"/>
          </a:p>
          <a:p>
            <a:r>
              <a:rPr lang="en-US" dirty="0"/>
              <a:t>Use the official </a:t>
            </a:r>
            <a:r>
              <a:rPr lang="en-US" b="1" dirty="0"/>
              <a:t>IEEE Word </a:t>
            </a:r>
          </a:p>
          <a:p>
            <a:r>
              <a:rPr lang="en-US" dirty="0"/>
              <a:t>Keep report length </a:t>
            </a:r>
            <a:r>
              <a:rPr lang="en-US" b="1" dirty="0"/>
              <a:t>3–5 pages including figures/tables</a:t>
            </a:r>
            <a:r>
              <a:rPr lang="en-US" dirty="0"/>
              <a:t>, </a:t>
            </a:r>
            <a:r>
              <a:rPr lang="en-US" b="1" dirty="0"/>
              <a:t>excluding code</a:t>
            </a:r>
            <a:r>
              <a:rPr lang="en-US" dirty="0"/>
              <a:t>.</a:t>
            </a:r>
          </a:p>
          <a:p>
            <a:r>
              <a:rPr lang="en-US" dirty="0"/>
              <a:t>Maintain </a:t>
            </a:r>
            <a:r>
              <a:rPr lang="en-US" b="1" dirty="0"/>
              <a:t>two columns</a:t>
            </a:r>
            <a:r>
              <a:rPr lang="en-US" dirty="0"/>
              <a:t>, single-spaced text, and consistent fonts (Times New Roman).</a:t>
            </a:r>
          </a:p>
          <a:p>
            <a:r>
              <a:rPr lang="en-US" b="1" dirty="0"/>
              <a:t>2️⃣ Writing Style</a:t>
            </a:r>
            <a:endParaRPr lang="en-US" dirty="0"/>
          </a:p>
          <a:p>
            <a:r>
              <a:rPr lang="en-US" dirty="0"/>
              <a:t>Use </a:t>
            </a:r>
            <a:r>
              <a:rPr lang="en-US" b="1" dirty="0"/>
              <a:t>technical and concise language</a:t>
            </a:r>
            <a:r>
              <a:rPr lang="en-US" dirty="0"/>
              <a:t> (no long paragraphs).</a:t>
            </a:r>
          </a:p>
          <a:p>
            <a:r>
              <a:rPr lang="en-US" dirty="0"/>
              <a:t>Each figure/table must have:</a:t>
            </a:r>
          </a:p>
          <a:p>
            <a:pPr lvl="1"/>
            <a:r>
              <a:rPr lang="en-US" b="1" dirty="0"/>
              <a:t>Numbered caption</a:t>
            </a:r>
            <a:r>
              <a:rPr lang="en-US" dirty="0"/>
              <a:t> (e.g., </a:t>
            </a:r>
            <a:r>
              <a:rPr lang="en-US" i="1" dirty="0"/>
              <a:t>Fig. 2. Pathway enrichment results</a:t>
            </a:r>
            <a:r>
              <a:rPr lang="en-US" dirty="0"/>
              <a:t>).</a:t>
            </a:r>
          </a:p>
          <a:p>
            <a:pPr lvl="1"/>
            <a:r>
              <a:rPr lang="en-US" b="1" dirty="0"/>
              <a:t>Reference in text</a:t>
            </a:r>
            <a:r>
              <a:rPr lang="en-US" dirty="0"/>
              <a:t> (“as shown in Fig. 2…”).</a:t>
            </a:r>
          </a:p>
          <a:p>
            <a:r>
              <a:rPr lang="en-US" dirty="0"/>
              <a:t>Avoid “I/we” — write impersonally (e.g., “This study investigates…”).</a:t>
            </a:r>
          </a:p>
          <a:p>
            <a:endParaRPr lang="nb-NO" dirty="0"/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921D18F1-D4C5-9B6A-7B96-585793EC86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5944" y="2015067"/>
            <a:ext cx="4639736" cy="3854028"/>
          </a:xfrm>
        </p:spPr>
        <p:txBody>
          <a:bodyPr>
            <a:normAutofit fontScale="70000" lnSpcReduction="20000"/>
          </a:bodyPr>
          <a:lstStyle/>
          <a:p>
            <a:r>
              <a:rPr lang="nb-NO" b="1" dirty="0"/>
              <a:t>3️⃣ References</a:t>
            </a:r>
            <a:endParaRPr lang="nb-NO" dirty="0"/>
          </a:p>
          <a:p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b="1" dirty="0"/>
              <a:t>IEEE </a:t>
            </a:r>
            <a:r>
              <a:rPr lang="nb-NO" b="1" dirty="0" err="1"/>
              <a:t>citation</a:t>
            </a:r>
            <a:r>
              <a:rPr lang="nb-NO" b="1" dirty="0"/>
              <a:t> </a:t>
            </a:r>
            <a:r>
              <a:rPr lang="nb-NO" b="1" dirty="0" err="1"/>
              <a:t>numbers</a:t>
            </a:r>
            <a:r>
              <a:rPr lang="nb-NO" dirty="0"/>
              <a:t> in </a:t>
            </a:r>
            <a:r>
              <a:rPr lang="nb-NO" dirty="0" err="1"/>
              <a:t>brackets</a:t>
            </a:r>
            <a:r>
              <a:rPr lang="nb-NO" dirty="0"/>
              <a:t>: [1], [2], etc.</a:t>
            </a:r>
          </a:p>
          <a:p>
            <a:r>
              <a:rPr lang="nb-NO" dirty="0"/>
              <a:t>Reference list at </a:t>
            </a:r>
            <a:r>
              <a:rPr lang="nb-NO" dirty="0" err="1"/>
              <a:t>the</a:t>
            </a:r>
            <a:r>
              <a:rPr lang="nb-NO" dirty="0"/>
              <a:t> end, </a:t>
            </a:r>
            <a:r>
              <a:rPr lang="nb-NO" dirty="0" err="1"/>
              <a:t>ordered</a:t>
            </a:r>
            <a:r>
              <a:rPr lang="nb-NO" dirty="0"/>
              <a:t> by </a:t>
            </a:r>
            <a:r>
              <a:rPr lang="nb-NO" b="1" dirty="0" err="1"/>
              <a:t>appearance</a:t>
            </a:r>
            <a:r>
              <a:rPr lang="nb-NO" dirty="0"/>
              <a:t>, not </a:t>
            </a:r>
            <a:r>
              <a:rPr lang="nb-NO" dirty="0" err="1"/>
              <a:t>alphabetically</a:t>
            </a:r>
            <a:r>
              <a:rPr lang="nb-NO" dirty="0"/>
              <a:t>.</a:t>
            </a:r>
          </a:p>
          <a:p>
            <a:pPr lvl="1"/>
            <a:r>
              <a:rPr lang="nb-NO" dirty="0" err="1"/>
              <a:t>Example</a:t>
            </a:r>
            <a:r>
              <a:rPr lang="nb-NO" dirty="0"/>
              <a:t>:</a:t>
            </a:r>
            <a:br>
              <a:rPr lang="nb-NO" dirty="0"/>
            </a:br>
            <a:r>
              <a:rPr lang="nb-NO" dirty="0"/>
              <a:t>[1] J. Smith et al., “Deep </a:t>
            </a:r>
            <a:r>
              <a:rPr lang="nb-NO" dirty="0" err="1"/>
              <a:t>learning</a:t>
            </a:r>
            <a:r>
              <a:rPr lang="nb-NO" dirty="0"/>
              <a:t> for </a:t>
            </a:r>
            <a:r>
              <a:rPr lang="nb-NO" dirty="0" err="1"/>
              <a:t>biomedical</a:t>
            </a:r>
            <a:r>
              <a:rPr lang="nb-NO" dirty="0"/>
              <a:t> data,” *IEEE Trans. Med. </a:t>
            </a:r>
            <a:r>
              <a:rPr lang="nb-NO" dirty="0" err="1"/>
              <a:t>Imaging</a:t>
            </a:r>
            <a:r>
              <a:rPr lang="nb-NO" dirty="0"/>
              <a:t>*, 2024.</a:t>
            </a:r>
          </a:p>
          <a:p>
            <a:r>
              <a:rPr lang="nb-NO" b="1" dirty="0"/>
              <a:t>4️⃣ </a:t>
            </a:r>
            <a:r>
              <a:rPr lang="nb-NO" b="1" dirty="0" err="1"/>
              <a:t>Submission</a:t>
            </a:r>
            <a:endParaRPr lang="nb-NO" dirty="0"/>
          </a:p>
          <a:p>
            <a:r>
              <a:rPr lang="nb-NO" b="1" dirty="0"/>
              <a:t>Report:</a:t>
            </a:r>
            <a:r>
              <a:rPr lang="nb-NO" dirty="0"/>
              <a:t> PDF in IEEE format (3–5 </a:t>
            </a:r>
            <a:r>
              <a:rPr lang="nb-NO" dirty="0" err="1"/>
              <a:t>pages</a:t>
            </a:r>
            <a:r>
              <a:rPr lang="nb-NO" dirty="0"/>
              <a:t>).</a:t>
            </a:r>
          </a:p>
          <a:p>
            <a:r>
              <a:rPr lang="nb-NO" b="1" dirty="0"/>
              <a:t>Code:</a:t>
            </a:r>
            <a:r>
              <a:rPr lang="nb-NO" dirty="0"/>
              <a:t> Separate Python script or </a:t>
            </a:r>
            <a:r>
              <a:rPr lang="nb-NO" dirty="0" err="1"/>
              <a:t>Jupyter</a:t>
            </a:r>
            <a:r>
              <a:rPr lang="nb-NO" dirty="0"/>
              <a:t> Notebook (</a:t>
            </a:r>
            <a:r>
              <a:rPr lang="nb-NO" dirty="0" err="1"/>
              <a:t>attached</a:t>
            </a:r>
            <a:r>
              <a:rPr lang="nb-NO" dirty="0"/>
              <a:t>).</a:t>
            </a:r>
          </a:p>
          <a:p>
            <a:r>
              <a:rPr lang="nb-NO" b="1" dirty="0"/>
              <a:t>Deadline:</a:t>
            </a:r>
            <a:r>
              <a:rPr lang="nb-NO" dirty="0"/>
              <a:t> </a:t>
            </a:r>
            <a:r>
              <a:rPr lang="nb-NO" i="1" dirty="0"/>
              <a:t>6 November (</a:t>
            </a:r>
            <a:r>
              <a:rPr lang="nb-NO" i="1" dirty="0" err="1"/>
              <a:t>Wiseflow</a:t>
            </a:r>
            <a:r>
              <a:rPr lang="nb-NO" i="1" dirty="0"/>
              <a:t> + </a:t>
            </a:r>
            <a:r>
              <a:rPr lang="nb-NO" i="1" dirty="0" err="1"/>
              <a:t>Moodle</a:t>
            </a:r>
            <a:r>
              <a:rPr lang="nb-NO" i="1" dirty="0"/>
              <a:t>)</a:t>
            </a:r>
            <a:r>
              <a:rPr lang="nb-NO" dirty="0"/>
              <a:t>.</a:t>
            </a:r>
          </a:p>
          <a:p>
            <a:endParaRPr lang="nb-NO" dirty="0"/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37A5F014-7FBE-96EA-8845-BC874EC56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33515BF-C9AE-417F-B39D-2D27D088BCD1}" type="datetime1">
              <a:rPr lang="nb-NO" smtClean="0"/>
              <a:t>27.10.2025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153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E2B2D25-4F76-A69A-EDB7-4DA13500D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63529"/>
            <a:ext cx="10058400" cy="1450757"/>
          </a:xfrm>
        </p:spPr>
        <p:txBody>
          <a:bodyPr>
            <a:normAutofit/>
          </a:bodyPr>
          <a:lstStyle/>
          <a:p>
            <a:r>
              <a:rPr lang="nb-NO" dirty="0" err="1"/>
              <a:t>Written</a:t>
            </a:r>
            <a:r>
              <a:rPr lang="nb-NO" dirty="0"/>
              <a:t> Report:</a:t>
            </a:r>
            <a:br>
              <a:rPr lang="nb-NO" dirty="0"/>
            </a:br>
            <a:r>
              <a:rPr lang="en-US" b="1" i="1" dirty="0"/>
              <a:t>Abstract</a:t>
            </a:r>
            <a:r>
              <a:rPr lang="en-US" b="1" dirty="0"/>
              <a:t>: (5%)  (150 words)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196CCE8-A4D4-BCAF-DF90-24E525328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Summarizes your </a:t>
            </a:r>
            <a:r>
              <a:rPr lang="en-US" b="1" dirty="0"/>
              <a:t>entire paper</a:t>
            </a:r>
            <a:r>
              <a:rPr lang="en-US" dirty="0"/>
              <a:t> in one short paragraph.</a:t>
            </a:r>
          </a:p>
          <a:p>
            <a:r>
              <a:rPr lang="en-US" dirty="0"/>
              <a:t>Should be understandable on its own — no references or jargon.</a:t>
            </a:r>
          </a:p>
          <a:p>
            <a:r>
              <a:rPr lang="en-US" b="1" dirty="0"/>
              <a:t>Background / Problem:</a:t>
            </a:r>
            <a:r>
              <a:rPr lang="en-US" dirty="0"/>
              <a:t> Why the topic matters (e.g., AI for health, NSCLC challenge).</a:t>
            </a:r>
          </a:p>
          <a:p>
            <a:r>
              <a:rPr lang="en-US" b="1" dirty="0"/>
              <a:t>Method:</a:t>
            </a:r>
            <a:r>
              <a:rPr lang="en-US" dirty="0"/>
              <a:t> Which data and models you used.</a:t>
            </a:r>
          </a:p>
          <a:p>
            <a:r>
              <a:rPr lang="en-US" b="1" dirty="0"/>
              <a:t>Findings:</a:t>
            </a:r>
            <a:r>
              <a:rPr lang="en-US" dirty="0"/>
              <a:t> Key quantitative or qualitative results (main discovery).</a:t>
            </a:r>
          </a:p>
          <a:p>
            <a:r>
              <a:rPr lang="en-US" b="1" dirty="0"/>
              <a:t>Significance:</a:t>
            </a:r>
            <a:r>
              <a:rPr lang="en-US" dirty="0"/>
              <a:t> What the results mean — how they can be used or why they’re important.</a:t>
            </a:r>
          </a:p>
          <a:p>
            <a:r>
              <a:rPr lang="en-US" b="1" dirty="0"/>
              <a:t>Keywords:</a:t>
            </a:r>
            <a:r>
              <a:rPr lang="en-US" dirty="0"/>
              <a:t> 4–6 words that describe the core content (e.g., </a:t>
            </a:r>
            <a:r>
              <a:rPr lang="en-US" i="1" dirty="0"/>
              <a:t>AI, lung cancer, gene expression, machine learning</a:t>
            </a:r>
            <a:r>
              <a:rPr lang="en-US" dirty="0"/>
              <a:t>).</a:t>
            </a:r>
          </a:p>
          <a:p>
            <a:r>
              <a:rPr lang="en-US" b="1" dirty="0"/>
              <a:t>Tip:</a:t>
            </a:r>
            <a:br>
              <a:rPr lang="en-US" dirty="0"/>
            </a:br>
            <a:r>
              <a:rPr lang="en-US" dirty="0"/>
              <a:t>🕓 </a:t>
            </a:r>
            <a:r>
              <a:rPr lang="en-US" i="1" dirty="0"/>
              <a:t>Write this last!</a:t>
            </a:r>
            <a:r>
              <a:rPr lang="en-US" dirty="0"/>
              <a:t> After all other sections are complete, summarize the main points clearly and concisely.</a:t>
            </a:r>
          </a:p>
          <a:p>
            <a:endParaRPr lang="nb-NO" dirty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1EDE243-E086-0201-DD58-09F5458B8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D99FE8D-F23E-4315-9473-C90F441FE926}" type="datetime1">
              <a:rPr lang="nb-NO" smtClean="0"/>
              <a:t>27.10.2025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953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3C954F9-D5AD-A7FC-1136-567DCB053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Introduction (15-20%)</a:t>
            </a:r>
            <a:br>
              <a:rPr lang="nb-NO" b="1" dirty="0"/>
            </a:br>
            <a:r>
              <a:rPr lang="nb-NO" b="1" dirty="0"/>
              <a:t>(400-600 </a:t>
            </a:r>
            <a:r>
              <a:rPr lang="nb-NO" b="1" dirty="0" err="1"/>
              <a:t>words</a:t>
            </a:r>
            <a:r>
              <a:rPr lang="nb-NO" b="1" dirty="0"/>
              <a:t>)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2CA2C94-8001-6760-1108-58A857813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Goal:  </a:t>
            </a:r>
            <a:r>
              <a:rPr lang="en-US" dirty="0"/>
              <a:t>Establish the </a:t>
            </a:r>
            <a:r>
              <a:rPr lang="en-US" b="1" dirty="0"/>
              <a:t>context, motivation, and purpose</a:t>
            </a:r>
            <a:r>
              <a:rPr lang="en-US" dirty="0"/>
              <a:t> of your study.</a:t>
            </a:r>
          </a:p>
          <a:p>
            <a:r>
              <a:rPr lang="en-US" b="1" dirty="0"/>
              <a:t>Context &amp; Background:</a:t>
            </a:r>
            <a:endParaRPr lang="en-US" dirty="0"/>
          </a:p>
          <a:p>
            <a:pPr lvl="1"/>
            <a:r>
              <a:rPr lang="en-US" dirty="0"/>
              <a:t>What field are we in?</a:t>
            </a:r>
          </a:p>
          <a:p>
            <a:pPr lvl="1"/>
            <a:r>
              <a:rPr lang="en-US" dirty="0"/>
              <a:t>What is already known?</a:t>
            </a:r>
          </a:p>
          <a:p>
            <a:r>
              <a:rPr lang="en-US" b="1" dirty="0"/>
              <a:t>Problem Statement: </a:t>
            </a:r>
            <a:r>
              <a:rPr lang="en-US" dirty="0"/>
              <a:t>What problem are we solving (e.g., lack of AI integration in biomedical datasets)?</a:t>
            </a:r>
          </a:p>
          <a:p>
            <a:r>
              <a:rPr lang="en-US" b="1" dirty="0"/>
              <a:t>Objectives / Research Questions: </a:t>
            </a:r>
            <a:r>
              <a:rPr lang="en-US" dirty="0"/>
              <a:t>What are we doing, why, and how?</a:t>
            </a:r>
          </a:p>
          <a:p>
            <a:r>
              <a:rPr lang="en-US" b="1" dirty="0"/>
              <a:t>Scope &amp; Limitations:</a:t>
            </a:r>
            <a:endParaRPr lang="en-US" dirty="0"/>
          </a:p>
          <a:p>
            <a:pPr lvl="1"/>
            <a:r>
              <a:rPr lang="en-US" dirty="0"/>
              <a:t>Which datasets, models, or biological systems are included.</a:t>
            </a:r>
          </a:p>
          <a:p>
            <a:pPr lvl="1"/>
            <a:r>
              <a:rPr lang="en-US" dirty="0"/>
              <a:t>What is </a:t>
            </a:r>
            <a:r>
              <a:rPr lang="en-US" b="1" dirty="0"/>
              <a:t>not</a:t>
            </a:r>
            <a:r>
              <a:rPr lang="en-US" dirty="0"/>
              <a:t> covered — and why (e.g., limited sample size, time constraints).</a:t>
            </a:r>
          </a:p>
          <a:p>
            <a:r>
              <a:rPr lang="en-US" b="1" dirty="0"/>
              <a:t>Structure Overview: </a:t>
            </a:r>
            <a:r>
              <a:rPr lang="en-US" dirty="0"/>
              <a:t>Short preview of how the paper is organized (“Section II describes methods…”).</a:t>
            </a:r>
          </a:p>
          <a:p>
            <a:r>
              <a:rPr lang="en-US" b="1" dirty="0"/>
              <a:t>Tip:</a:t>
            </a:r>
            <a:br>
              <a:rPr lang="en-US" dirty="0"/>
            </a:br>
            <a:r>
              <a:rPr lang="en-US" dirty="0"/>
              <a:t>🎯 Keep it </a:t>
            </a:r>
            <a:r>
              <a:rPr lang="en-US" b="1" dirty="0"/>
              <a:t>narrative but focused</a:t>
            </a:r>
            <a:r>
              <a:rPr lang="en-US" dirty="0"/>
              <a:t> — you’re guiding the reader from </a:t>
            </a:r>
            <a:r>
              <a:rPr lang="en-US" i="1" dirty="0"/>
              <a:t>problem → purpose → plan.</a:t>
            </a:r>
            <a:endParaRPr lang="en-US" dirty="0"/>
          </a:p>
          <a:p>
            <a:endParaRPr lang="nb-NO" dirty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3D2AFBA-353D-4D15-D566-69D800BCF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D99FE8D-F23E-4315-9473-C90F441FE926}" type="datetime1">
              <a:rPr lang="nb-NO" smtClean="0"/>
              <a:t>27.10.2025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034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3F97534-33F6-6AC4-68A7-174E14A29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Methods (20-25%)</a:t>
            </a:r>
            <a:br>
              <a:rPr lang="en-US" b="1" dirty="0"/>
            </a:br>
            <a:r>
              <a:rPr lang="en-US" b="1" dirty="0"/>
              <a:t>(500-800 words)</a:t>
            </a:r>
            <a:endParaRPr lang="nb-NO" b="1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2DBCF94C-6C05-4BF7-93DE-CD87E4F5D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nb-NO" b="1" dirty="0"/>
              <a:t>Goal: </a:t>
            </a:r>
            <a:r>
              <a:rPr lang="nb-NO" dirty="0"/>
              <a:t>Make </a:t>
            </a:r>
            <a:r>
              <a:rPr lang="nb-NO" dirty="0" err="1"/>
              <a:t>your</a:t>
            </a:r>
            <a:r>
              <a:rPr lang="nb-NO" dirty="0"/>
              <a:t> </a:t>
            </a:r>
            <a:r>
              <a:rPr lang="nb-NO" dirty="0" err="1"/>
              <a:t>workflow</a:t>
            </a:r>
            <a:r>
              <a:rPr lang="nb-NO" dirty="0"/>
              <a:t> </a:t>
            </a:r>
            <a:r>
              <a:rPr lang="nb-NO" b="1" dirty="0" err="1"/>
              <a:t>reproducible</a:t>
            </a:r>
            <a:r>
              <a:rPr lang="nb-NO" dirty="0"/>
              <a:t> — </a:t>
            </a:r>
            <a:r>
              <a:rPr lang="nb-NO" dirty="0" err="1"/>
              <a:t>another</a:t>
            </a:r>
            <a:r>
              <a:rPr lang="nb-NO" dirty="0"/>
              <a:t> </a:t>
            </a:r>
            <a:r>
              <a:rPr lang="nb-NO" dirty="0" err="1"/>
              <a:t>researcher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able</a:t>
            </a:r>
            <a:r>
              <a:rPr lang="nb-NO" dirty="0"/>
              <a:t> to </a:t>
            </a:r>
            <a:r>
              <a:rPr lang="nb-NO" dirty="0" err="1"/>
              <a:t>follow</a:t>
            </a:r>
            <a:r>
              <a:rPr lang="nb-NO" dirty="0"/>
              <a:t> and </a:t>
            </a:r>
            <a:r>
              <a:rPr lang="nb-NO" dirty="0" err="1"/>
              <a:t>replicate</a:t>
            </a:r>
            <a:r>
              <a:rPr lang="nb-NO" dirty="0"/>
              <a:t> it.</a:t>
            </a:r>
          </a:p>
          <a:p>
            <a:r>
              <a:rPr lang="nb-NO" b="1" dirty="0" err="1"/>
              <a:t>Datasets</a:t>
            </a:r>
            <a:r>
              <a:rPr lang="nb-NO" b="1" dirty="0"/>
              <a:t>:</a:t>
            </a:r>
            <a:endParaRPr lang="nb-NO" dirty="0"/>
          </a:p>
          <a:p>
            <a:pPr lvl="1"/>
            <a:r>
              <a:rPr lang="nb-NO" dirty="0"/>
              <a:t>Sources (e.g., GEO </a:t>
            </a:r>
            <a:r>
              <a:rPr lang="nb-NO" dirty="0" err="1"/>
              <a:t>datasets</a:t>
            </a:r>
            <a:r>
              <a:rPr lang="nb-NO" dirty="0"/>
              <a:t> GSE11761, GSE13255, etc.)</a:t>
            </a:r>
          </a:p>
          <a:p>
            <a:pPr lvl="1"/>
            <a:r>
              <a:rPr lang="nb-NO" dirty="0"/>
              <a:t>Sample type, </a:t>
            </a:r>
            <a:r>
              <a:rPr lang="nb-NO" dirty="0" err="1"/>
              <a:t>preprocessing</a:t>
            </a:r>
            <a:r>
              <a:rPr lang="nb-NO" dirty="0"/>
              <a:t> </a:t>
            </a:r>
            <a:r>
              <a:rPr lang="nb-NO" dirty="0" err="1"/>
              <a:t>criteria</a:t>
            </a:r>
            <a:r>
              <a:rPr lang="nb-NO" dirty="0"/>
              <a:t> (e.g., </a:t>
            </a:r>
            <a:r>
              <a:rPr lang="nb-NO" dirty="0" err="1"/>
              <a:t>adjusted</a:t>
            </a:r>
            <a:r>
              <a:rPr lang="nb-NO" dirty="0"/>
              <a:t> p &lt; 0.05, |log2FC| &gt; 1).</a:t>
            </a:r>
          </a:p>
          <a:p>
            <a:r>
              <a:rPr lang="nb-NO" b="1" dirty="0" err="1"/>
              <a:t>Preprocessing</a:t>
            </a:r>
            <a:r>
              <a:rPr lang="nb-NO" b="1" dirty="0"/>
              <a:t>:</a:t>
            </a:r>
            <a:endParaRPr lang="nb-NO" dirty="0"/>
          </a:p>
          <a:p>
            <a:pPr lvl="1"/>
            <a:r>
              <a:rPr lang="nb-NO" dirty="0"/>
              <a:t>How </a:t>
            </a:r>
            <a:r>
              <a:rPr lang="nb-NO" dirty="0" err="1"/>
              <a:t>raw</a:t>
            </a:r>
            <a:r>
              <a:rPr lang="nb-NO" dirty="0"/>
              <a:t> data </a:t>
            </a:r>
            <a:r>
              <a:rPr lang="nb-NO" dirty="0" err="1"/>
              <a:t>was</a:t>
            </a:r>
            <a:r>
              <a:rPr lang="nb-NO" dirty="0"/>
              <a:t> </a:t>
            </a:r>
            <a:r>
              <a:rPr lang="nb-NO" dirty="0" err="1"/>
              <a:t>cleaned</a:t>
            </a:r>
            <a:r>
              <a:rPr lang="nb-NO" dirty="0"/>
              <a:t>, </a:t>
            </a:r>
            <a:r>
              <a:rPr lang="nb-NO" dirty="0" err="1"/>
              <a:t>filtered</a:t>
            </a:r>
            <a:r>
              <a:rPr lang="nb-NO" dirty="0"/>
              <a:t>, </a:t>
            </a:r>
            <a:r>
              <a:rPr lang="nb-NO" dirty="0" err="1"/>
              <a:t>normalized</a:t>
            </a:r>
            <a:r>
              <a:rPr lang="nb-NO" dirty="0"/>
              <a:t>, and </a:t>
            </a:r>
            <a:r>
              <a:rPr lang="nb-NO" dirty="0" err="1"/>
              <a:t>prepared</a:t>
            </a:r>
            <a:r>
              <a:rPr lang="nb-NO" dirty="0"/>
              <a:t>.</a:t>
            </a:r>
          </a:p>
          <a:p>
            <a:pPr lvl="1"/>
            <a:r>
              <a:rPr lang="nb-NO" dirty="0"/>
              <a:t>Tools or </a:t>
            </a:r>
            <a:r>
              <a:rPr lang="nb-NO" dirty="0" err="1"/>
              <a:t>libraries</a:t>
            </a:r>
            <a:r>
              <a:rPr lang="nb-NO" dirty="0"/>
              <a:t> used (e.g., Python, Pandas, </a:t>
            </a:r>
            <a:r>
              <a:rPr lang="nb-NO" dirty="0" err="1"/>
              <a:t>Scikit-learn</a:t>
            </a:r>
            <a:r>
              <a:rPr lang="nb-NO" dirty="0"/>
              <a:t>).</a:t>
            </a:r>
          </a:p>
          <a:p>
            <a:r>
              <a:rPr lang="nb-NO" b="1" dirty="0"/>
              <a:t>Analysis / </a:t>
            </a:r>
            <a:r>
              <a:rPr lang="nb-NO" b="1" dirty="0" err="1"/>
              <a:t>Modeling</a:t>
            </a:r>
            <a:r>
              <a:rPr lang="nb-NO" b="1" dirty="0"/>
              <a:t>:</a:t>
            </a:r>
            <a:endParaRPr lang="nb-NO" dirty="0"/>
          </a:p>
          <a:p>
            <a:pPr lvl="1"/>
            <a:r>
              <a:rPr lang="nb-NO" dirty="0" err="1"/>
              <a:t>Which</a:t>
            </a:r>
            <a:r>
              <a:rPr lang="nb-NO" dirty="0"/>
              <a:t> </a:t>
            </a:r>
            <a:r>
              <a:rPr lang="nb-NO" dirty="0" err="1"/>
              <a:t>algorithms</a:t>
            </a:r>
            <a:r>
              <a:rPr lang="nb-NO" dirty="0"/>
              <a:t> </a:t>
            </a:r>
            <a:r>
              <a:rPr lang="nb-NO" dirty="0" err="1"/>
              <a:t>were</a:t>
            </a:r>
            <a:r>
              <a:rPr lang="nb-NO" dirty="0"/>
              <a:t> </a:t>
            </a:r>
            <a:r>
              <a:rPr lang="nb-NO" dirty="0" err="1"/>
              <a:t>applied</a:t>
            </a:r>
            <a:r>
              <a:rPr lang="nb-NO" dirty="0"/>
              <a:t> (e.g., </a:t>
            </a:r>
            <a:r>
              <a:rPr lang="nb-NO" dirty="0" err="1"/>
              <a:t>differential</a:t>
            </a:r>
            <a:r>
              <a:rPr lang="nb-NO" dirty="0"/>
              <a:t> </a:t>
            </a:r>
            <a:r>
              <a:rPr lang="nb-NO" dirty="0" err="1"/>
              <a:t>expression</a:t>
            </a:r>
            <a:r>
              <a:rPr lang="nb-NO" dirty="0"/>
              <a:t>, GSEA, immune </a:t>
            </a:r>
            <a:r>
              <a:rPr lang="nb-NO" dirty="0" err="1"/>
              <a:t>deconvolution</a:t>
            </a:r>
            <a:r>
              <a:rPr lang="nb-NO" dirty="0"/>
              <a:t>).</a:t>
            </a:r>
          </a:p>
          <a:p>
            <a:pPr lvl="1"/>
            <a:r>
              <a:rPr lang="nb-NO" dirty="0"/>
              <a:t>Key parameters and </a:t>
            </a:r>
            <a:r>
              <a:rPr lang="nb-NO" dirty="0" err="1"/>
              <a:t>evaluation</a:t>
            </a:r>
            <a:r>
              <a:rPr lang="nb-NO" dirty="0"/>
              <a:t> </a:t>
            </a:r>
            <a:r>
              <a:rPr lang="nb-NO" dirty="0" err="1"/>
              <a:t>metrics</a:t>
            </a:r>
            <a:r>
              <a:rPr lang="nb-NO" dirty="0"/>
              <a:t>.</a:t>
            </a:r>
          </a:p>
          <a:p>
            <a:r>
              <a:rPr lang="nb-NO" b="1" dirty="0" err="1"/>
              <a:t>Reproducibility</a:t>
            </a:r>
            <a:r>
              <a:rPr lang="nb-NO" b="1" dirty="0"/>
              <a:t> Notes:</a:t>
            </a:r>
            <a:endParaRPr lang="nb-NO" dirty="0"/>
          </a:p>
          <a:p>
            <a:pPr lvl="1"/>
            <a:r>
              <a:rPr lang="nb-NO" dirty="0" err="1"/>
              <a:t>Enough</a:t>
            </a:r>
            <a:r>
              <a:rPr lang="nb-NO" dirty="0"/>
              <a:t> </a:t>
            </a:r>
            <a:r>
              <a:rPr lang="nb-NO" dirty="0" err="1"/>
              <a:t>detail</a:t>
            </a:r>
            <a:r>
              <a:rPr lang="nb-NO" dirty="0"/>
              <a:t> for </a:t>
            </a:r>
            <a:r>
              <a:rPr lang="nb-NO" dirty="0" err="1"/>
              <a:t>others</a:t>
            </a:r>
            <a:r>
              <a:rPr lang="nb-NO" dirty="0"/>
              <a:t> to </a:t>
            </a:r>
            <a:r>
              <a:rPr lang="nb-NO" dirty="0" err="1"/>
              <a:t>repeat</a:t>
            </a:r>
            <a:r>
              <a:rPr lang="nb-NO" dirty="0"/>
              <a:t> </a:t>
            </a:r>
            <a:r>
              <a:rPr lang="nb-NO" dirty="0" err="1"/>
              <a:t>your</a:t>
            </a:r>
            <a:r>
              <a:rPr lang="nb-NO" dirty="0"/>
              <a:t> </a:t>
            </a:r>
            <a:r>
              <a:rPr lang="nb-NO" dirty="0" err="1"/>
              <a:t>steps</a:t>
            </a:r>
            <a:r>
              <a:rPr lang="nb-NO" dirty="0"/>
              <a:t>.</a:t>
            </a:r>
          </a:p>
          <a:p>
            <a:pPr lvl="1"/>
            <a:r>
              <a:rPr lang="nb-NO" dirty="0" err="1"/>
              <a:t>Mention</a:t>
            </a:r>
            <a:r>
              <a:rPr lang="nb-NO" dirty="0"/>
              <a:t> </a:t>
            </a:r>
            <a:r>
              <a:rPr lang="nb-NO" dirty="0" err="1"/>
              <a:t>environment</a:t>
            </a:r>
            <a:r>
              <a:rPr lang="nb-NO" dirty="0"/>
              <a:t> (e.g., Python 3.10, Docker, etc.).</a:t>
            </a:r>
          </a:p>
          <a:p>
            <a:r>
              <a:rPr lang="nb-NO" b="1" dirty="0" err="1"/>
              <a:t>Tip</a:t>
            </a:r>
            <a:r>
              <a:rPr lang="nb-NO" b="1" dirty="0"/>
              <a:t>:</a:t>
            </a:r>
            <a:br>
              <a:rPr lang="nb-NO" dirty="0"/>
            </a:br>
            <a:r>
              <a:rPr lang="nb-NO" dirty="0"/>
              <a:t>🧠 Think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this</a:t>
            </a:r>
            <a:r>
              <a:rPr lang="nb-NO" dirty="0"/>
              <a:t> as </a:t>
            </a:r>
            <a:r>
              <a:rPr lang="nb-NO" dirty="0" err="1"/>
              <a:t>your</a:t>
            </a:r>
            <a:r>
              <a:rPr lang="nb-NO" dirty="0"/>
              <a:t> </a:t>
            </a:r>
            <a:r>
              <a:rPr lang="nb-NO" b="1" dirty="0" err="1"/>
              <a:t>recipe</a:t>
            </a:r>
            <a:r>
              <a:rPr lang="nb-NO" dirty="0"/>
              <a:t> — </a:t>
            </a:r>
            <a:r>
              <a:rPr lang="nb-NO" dirty="0" err="1"/>
              <a:t>precise</a:t>
            </a:r>
            <a:r>
              <a:rPr lang="nb-NO" dirty="0"/>
              <a:t>, </a:t>
            </a:r>
            <a:r>
              <a:rPr lang="nb-NO" dirty="0" err="1"/>
              <a:t>structured</a:t>
            </a:r>
            <a:r>
              <a:rPr lang="nb-NO" dirty="0"/>
              <a:t>, and transparent.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7EB6FC09-1F84-A1FC-59A4-702BD6A7B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D99FE8D-F23E-4315-9473-C90F441FE926}" type="datetime1">
              <a:rPr lang="nb-NO" smtClean="0"/>
              <a:t>27.10.2025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776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30297E6-1E70-BD35-25CF-E1C558DFC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Results: (20-25%) </a:t>
            </a:r>
            <a:br>
              <a:rPr lang="nb-NO" b="1" dirty="0"/>
            </a:br>
            <a:r>
              <a:rPr lang="nb-NO" b="1" dirty="0"/>
              <a:t>(500-800 </a:t>
            </a:r>
            <a:r>
              <a:rPr lang="nb-NO" b="1" dirty="0" err="1"/>
              <a:t>words</a:t>
            </a:r>
            <a:r>
              <a:rPr lang="nb-NO" b="1" dirty="0"/>
              <a:t> or 1 </a:t>
            </a:r>
            <a:r>
              <a:rPr lang="nb-NO" b="1" dirty="0" err="1"/>
              <a:t>page</a:t>
            </a:r>
            <a:r>
              <a:rPr lang="nb-NO" b="1" dirty="0"/>
              <a:t> in plots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247764E4-135A-DA96-8E8B-59A20027C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Goal: </a:t>
            </a:r>
            <a:r>
              <a:rPr lang="en-US" dirty="0"/>
              <a:t>Present your </a:t>
            </a:r>
            <a:r>
              <a:rPr lang="en-US" b="1" dirty="0"/>
              <a:t>findings clearly and visually</a:t>
            </a:r>
            <a:r>
              <a:rPr lang="en-US" dirty="0"/>
              <a:t> — </a:t>
            </a:r>
            <a:r>
              <a:rPr lang="en-US" i="1" dirty="0"/>
              <a:t>no interpretation yet</a:t>
            </a:r>
            <a:r>
              <a:rPr lang="en-US" dirty="0"/>
              <a:t>.</a:t>
            </a:r>
          </a:p>
          <a:p>
            <a:r>
              <a:rPr lang="en-US" b="1" dirty="0"/>
              <a:t>Tables:</a:t>
            </a:r>
            <a:r>
              <a:rPr lang="en-US" dirty="0"/>
              <a:t> Summarize numerical results, performance scores, or gene overlaps.</a:t>
            </a:r>
          </a:p>
          <a:p>
            <a:r>
              <a:rPr lang="en-US" b="1" dirty="0"/>
              <a:t>Figures:</a:t>
            </a:r>
            <a:r>
              <a:rPr lang="en-US" dirty="0"/>
              <a:t> Graphs, heatmaps, pathway plots, model accuracy curves, etc.</a:t>
            </a:r>
          </a:p>
          <a:p>
            <a:r>
              <a:rPr lang="en-US" b="1" dirty="0"/>
              <a:t>Diagrams:</a:t>
            </a:r>
            <a:r>
              <a:rPr lang="en-US" dirty="0"/>
              <a:t> Show data flow, model architecture, or relationships between datasets.</a:t>
            </a:r>
          </a:p>
          <a:p>
            <a:r>
              <a:rPr lang="en-US" b="1" dirty="0"/>
              <a:t>Descriptions of Findings:</a:t>
            </a:r>
            <a:endParaRPr lang="en-US" dirty="0"/>
          </a:p>
          <a:p>
            <a:pPr lvl="1"/>
            <a:r>
              <a:rPr lang="en-US" dirty="0"/>
              <a:t>Explain what the visuals show — highlight trends, differences, or anomalies.</a:t>
            </a:r>
          </a:p>
          <a:p>
            <a:r>
              <a:rPr lang="en-US" b="1" dirty="0"/>
              <a:t>Key Results:</a:t>
            </a:r>
            <a:endParaRPr lang="en-US" dirty="0"/>
          </a:p>
          <a:p>
            <a:pPr lvl="1"/>
            <a:r>
              <a:rPr lang="en-US" dirty="0"/>
              <a:t>What stands out? Which genes, pathways, or models performed best?</a:t>
            </a:r>
          </a:p>
          <a:p>
            <a:pPr lvl="1"/>
            <a:r>
              <a:rPr lang="en-US" dirty="0"/>
              <a:t>Link briefly to each project task (1–4).</a:t>
            </a:r>
          </a:p>
          <a:p>
            <a:r>
              <a:rPr lang="en-US" b="1" dirty="0"/>
              <a:t>Tips:</a:t>
            </a:r>
            <a:br>
              <a:rPr lang="en-US" dirty="0"/>
            </a:br>
            <a:r>
              <a:rPr lang="en-US" dirty="0"/>
              <a:t>📊 Keep visuals clean and labeled.</a:t>
            </a:r>
            <a:br>
              <a:rPr lang="en-US" dirty="0"/>
            </a:br>
            <a:r>
              <a:rPr lang="en-US" dirty="0"/>
              <a:t>✏️ Write factual descriptions, not interpretations — </a:t>
            </a:r>
            <a:r>
              <a:rPr lang="en-US" i="1" dirty="0"/>
              <a:t>save opinions for Discussion.</a:t>
            </a:r>
            <a:endParaRPr lang="en-US" dirty="0"/>
          </a:p>
          <a:p>
            <a:endParaRPr lang="nb-NO" dirty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3E2D2C7D-1F4F-BE1B-4969-DED057C09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D99FE8D-F23E-4315-9473-C90F441FE926}" type="datetime1">
              <a:rPr lang="nb-NO" smtClean="0"/>
              <a:t>27.10.2025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672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27C4315-B5DA-63AC-58B9-967DD6D64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Discussion (20-25%) </a:t>
            </a:r>
            <a:br>
              <a:rPr lang="nb-NO" b="1" dirty="0"/>
            </a:br>
            <a:r>
              <a:rPr lang="nb-NO" b="1" dirty="0"/>
              <a:t>(400-800 </a:t>
            </a:r>
            <a:r>
              <a:rPr lang="nb-NO" b="1" dirty="0" err="1"/>
              <a:t>words</a:t>
            </a:r>
            <a:r>
              <a:rPr lang="nb-NO" b="1" dirty="0"/>
              <a:t>)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EF290C8-7615-59B2-C406-F128BEF20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Goal: </a:t>
            </a:r>
            <a:r>
              <a:rPr lang="en-US" dirty="0"/>
              <a:t>Interpret your results, link them to theory, and reflect on what they mean.</a:t>
            </a:r>
          </a:p>
          <a:p>
            <a:r>
              <a:rPr lang="en-US" b="1" dirty="0"/>
              <a:t>Interpretation of Findings: </a:t>
            </a:r>
            <a:r>
              <a:rPr lang="en-US" dirty="0"/>
              <a:t>Why did we get these results? What do they suggest biologically or technically?</a:t>
            </a:r>
          </a:p>
          <a:p>
            <a:r>
              <a:rPr lang="en-US" b="1" dirty="0"/>
              <a:t>Methodological Reflection:</a:t>
            </a:r>
            <a:endParaRPr lang="en-US" dirty="0"/>
          </a:p>
          <a:p>
            <a:pPr lvl="1"/>
            <a:r>
              <a:rPr lang="en-US" dirty="0"/>
              <a:t>Were our methods appropriate?</a:t>
            </a:r>
          </a:p>
          <a:p>
            <a:pPr lvl="1"/>
            <a:r>
              <a:rPr lang="en-US" dirty="0"/>
              <a:t>How did parameter choices or preprocessing affect the outcome?</a:t>
            </a:r>
          </a:p>
          <a:p>
            <a:r>
              <a:rPr lang="en-US" b="1" dirty="0"/>
              <a:t>Outliers / Groupings: </a:t>
            </a:r>
            <a:r>
              <a:rPr lang="en-US" dirty="0"/>
              <a:t>Mention any anomalies or unexpected clusters and how they were handled.</a:t>
            </a:r>
          </a:p>
          <a:p>
            <a:r>
              <a:rPr lang="en-US" b="1" dirty="0"/>
              <a:t>Links to Theory / Curriculum: </a:t>
            </a:r>
            <a:r>
              <a:rPr lang="en-US" dirty="0"/>
              <a:t>Connect to AI and ML theory (e.g., supervised vs. unsupervised learning, neural networks, feature extraction).</a:t>
            </a:r>
          </a:p>
          <a:p>
            <a:r>
              <a:rPr lang="en-US" b="1" dirty="0"/>
              <a:t>Limitations: </a:t>
            </a:r>
            <a:r>
              <a:rPr lang="en-US" dirty="0"/>
              <a:t>Small dataset, missing values, computational limits, biological uncertainty.</a:t>
            </a:r>
          </a:p>
          <a:p>
            <a:r>
              <a:rPr lang="en-US" b="1" dirty="0"/>
              <a:t>Future Directions: </a:t>
            </a:r>
            <a:r>
              <a:rPr lang="en-US" dirty="0"/>
              <a:t>What would you improve or extend next time?</a:t>
            </a:r>
          </a:p>
          <a:p>
            <a:r>
              <a:rPr lang="en-US" b="1" dirty="0"/>
              <a:t>Tips:</a:t>
            </a:r>
            <a:br>
              <a:rPr lang="en-US" dirty="0"/>
            </a:br>
            <a:r>
              <a:rPr lang="en-US" dirty="0"/>
              <a:t>🧠 This is where you “think like a scientist.”</a:t>
            </a:r>
            <a:br>
              <a:rPr lang="en-US" dirty="0"/>
            </a:br>
            <a:r>
              <a:rPr lang="en-US" dirty="0"/>
              <a:t>Use your results to tell </a:t>
            </a:r>
            <a:r>
              <a:rPr lang="en-US" i="1" dirty="0"/>
              <a:t>why they matter</a:t>
            </a:r>
            <a:r>
              <a:rPr lang="en-US" dirty="0"/>
              <a:t> — not just what they are.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A76AC642-93E9-FD02-1744-1C55ED4EF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D99FE8D-F23E-4315-9473-C90F441FE926}" type="datetime1">
              <a:rPr lang="nb-NO" smtClean="0"/>
              <a:t>27.10.2025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7318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FA7C6D7-B278-2344-4589-A0502C579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CONCLUTION (5-10%)</a:t>
            </a:r>
            <a:br>
              <a:rPr lang="nb-NO" b="1" dirty="0"/>
            </a:br>
            <a:r>
              <a:rPr lang="nb-NO" b="1" dirty="0"/>
              <a:t>100-200 </a:t>
            </a:r>
            <a:r>
              <a:rPr lang="nb-NO" b="1" dirty="0" err="1"/>
              <a:t>words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3A6E20E-5DBB-0BB7-4ED8-BEAD10E94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2600" b="1" dirty="0"/>
              <a:t>Goal:  </a:t>
            </a:r>
            <a:r>
              <a:rPr lang="en-US" sz="2600" dirty="0"/>
              <a:t>Summarize the essence of your project and its importance.</a:t>
            </a:r>
          </a:p>
          <a:p>
            <a:r>
              <a:rPr lang="en-US" sz="2600" b="1" dirty="0"/>
              <a:t>Short Summary: </a:t>
            </a:r>
            <a:r>
              <a:rPr lang="en-US" sz="2600" dirty="0"/>
              <a:t>Restate your main findings in 2–3 sentences.</a:t>
            </a:r>
          </a:p>
          <a:p>
            <a:r>
              <a:rPr lang="en-US" sz="2600" b="1" dirty="0"/>
              <a:t>Practical Significance: </a:t>
            </a:r>
            <a:r>
              <a:rPr lang="en-US" sz="2600" dirty="0"/>
              <a:t>What can this work contribute to research or applications (e.g., early cancer detection, better model design)?</a:t>
            </a:r>
          </a:p>
          <a:p>
            <a:r>
              <a:rPr lang="en-US" sz="2600" b="1" dirty="0"/>
              <a:t>Theoretical Significance: </a:t>
            </a:r>
            <a:r>
              <a:rPr lang="en-US" sz="2600" dirty="0"/>
              <a:t>What did we learn about AI, data handling, or model evaluation?</a:t>
            </a:r>
          </a:p>
          <a:p>
            <a:r>
              <a:rPr lang="en-US" sz="2600" b="1" dirty="0"/>
              <a:t>Suggestions for Future Work:</a:t>
            </a:r>
            <a:endParaRPr lang="en-US" sz="2600" dirty="0"/>
          </a:p>
          <a:p>
            <a:pPr lvl="1"/>
            <a:r>
              <a:rPr lang="en-US" sz="2600" dirty="0"/>
              <a:t>Use larger datasets?</a:t>
            </a:r>
          </a:p>
          <a:p>
            <a:pPr lvl="1"/>
            <a:r>
              <a:rPr lang="en-US" sz="2600" dirty="0"/>
              <a:t>Apply more advanced machine learning (e.g., CNNs, transformers)?</a:t>
            </a:r>
          </a:p>
          <a:p>
            <a:pPr lvl="1"/>
            <a:r>
              <a:rPr lang="en-US" sz="2600" dirty="0"/>
              <a:t>Explore clinical validation or real-world testing?</a:t>
            </a:r>
          </a:p>
          <a:p>
            <a:r>
              <a:rPr lang="en-US" sz="2600" b="1" dirty="0"/>
              <a:t>Tips:</a:t>
            </a:r>
            <a:br>
              <a:rPr lang="en-US" sz="2600" dirty="0"/>
            </a:br>
            <a:r>
              <a:rPr lang="en-US" sz="2600" dirty="0"/>
              <a:t>🎯 Keep it short, clear, and confident — </a:t>
            </a:r>
            <a:r>
              <a:rPr lang="en-US" sz="2600" i="1" dirty="0"/>
              <a:t>end strong.</a:t>
            </a:r>
            <a:endParaRPr lang="en-US" sz="2600" dirty="0"/>
          </a:p>
          <a:p>
            <a:br>
              <a:rPr lang="en-US" sz="2600" b="1" dirty="0"/>
            </a:br>
            <a:endParaRPr lang="nb-NO" sz="2600" b="1" dirty="0"/>
          </a:p>
          <a:p>
            <a:endParaRPr lang="nb-NO" dirty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AE12EB97-94FD-AEDE-A5F8-C5B4ECCB8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D99FE8D-F23E-4315-9473-C90F441FE926}" type="datetime1">
              <a:rPr lang="nb-NO" smtClean="0"/>
              <a:t>27.10.2025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327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5660C5D-95D1-DAAC-A15C-BCDAA652F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References (5%) </a:t>
            </a:r>
            <a:br>
              <a:rPr lang="en-US" b="1" dirty="0"/>
            </a:br>
            <a:r>
              <a:rPr lang="en-US" b="1" dirty="0"/>
              <a:t>150 words</a:t>
            </a:r>
            <a:endParaRPr lang="nb-NO" b="1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17E0E64-5569-CCC5-CBBB-B9C74AB99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CORRICULUM</a:t>
            </a:r>
            <a:br>
              <a:rPr lang="en-US" dirty="0"/>
            </a:br>
            <a:r>
              <a:rPr lang="en-US" dirty="0"/>
              <a:t>ARTICLES</a:t>
            </a:r>
            <a:br>
              <a:rPr lang="en-US" dirty="0"/>
            </a:br>
            <a:r>
              <a:rPr lang="en-US" dirty="0"/>
              <a:t>IEEE Style</a:t>
            </a:r>
            <a:endParaRPr lang="nb-NO" dirty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3873382A-6D05-6322-37E9-1AC8D1870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D99FE8D-F23E-4315-9473-C90F441FE926}" type="datetime1">
              <a:rPr lang="nb-NO" smtClean="0"/>
              <a:t>27.10.2025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280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B6C9457-A47B-4B60-13E1-6A368E076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What</a:t>
            </a:r>
            <a:r>
              <a:rPr lang="nb-NO" dirty="0"/>
              <a:t> is IEEE Style?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06BEAA9-787C-1060-7120-C7CDFA13A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1819987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🧠 2. In-text Citation Format</a:t>
            </a:r>
          </a:p>
          <a:p>
            <a:r>
              <a:rPr lang="en-US" dirty="0"/>
              <a:t>Use </a:t>
            </a:r>
            <a:r>
              <a:rPr lang="en-US" b="1" dirty="0"/>
              <a:t>square brackets</a:t>
            </a:r>
            <a:r>
              <a:rPr lang="en-US" dirty="0"/>
              <a:t> with a number that corresponds to the reference list:</a:t>
            </a:r>
          </a:p>
          <a:p>
            <a:r>
              <a:rPr lang="en-US" i="1" dirty="0"/>
              <a:t>Machine learning models can identify key immune pathways [3].</a:t>
            </a:r>
            <a:endParaRPr lang="en-US" dirty="0"/>
          </a:p>
          <a:p>
            <a:r>
              <a:rPr lang="en-US" dirty="0"/>
              <a:t>Multiple references can be combined:</a:t>
            </a:r>
          </a:p>
          <a:p>
            <a:r>
              <a:rPr lang="en-US" i="1" dirty="0"/>
              <a:t>Previous work [1], [4], [7] supports this finding.</a:t>
            </a:r>
            <a:endParaRPr lang="en-US" dirty="0"/>
          </a:p>
          <a:p>
            <a:endParaRPr lang="nb-NO" dirty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B3B8B91C-164E-FD6D-AFC4-5386EB741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D99FE8D-F23E-4315-9473-C90F441FE926}" type="datetime1">
              <a:rPr lang="nb-NO" smtClean="0"/>
              <a:t>27.10.2025</a:t>
            </a:fld>
            <a:endParaRPr lang="en-US" dirty="0"/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5CC015F7-CB39-F482-DAAE-6716502EDC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318513"/>
              </p:ext>
            </p:extLst>
          </p:nvPr>
        </p:nvGraphicFramePr>
        <p:xfrm>
          <a:off x="0" y="5725746"/>
          <a:ext cx="10058400" cy="365760"/>
        </p:xfrm>
        <a:graphic>
          <a:graphicData uri="http://schemas.openxmlformats.org/drawingml/2006/table">
            <a:tbl>
              <a:tblPr/>
              <a:tblGrid>
                <a:gridCol w="10058400">
                  <a:extLst>
                    <a:ext uri="{9D8B030D-6E8A-4147-A177-3AD203B41FA5}">
                      <a16:colId xmlns:a16="http://schemas.microsoft.com/office/drawing/2014/main" val="33874089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b="1" dirty="0" err="1"/>
                        <a:t>Dataset</a:t>
                      </a:r>
                      <a:endParaRPr lang="nb-NO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7165112"/>
                  </a:ext>
                </a:extLst>
              </a:tr>
            </a:tbl>
          </a:graphicData>
        </a:graphic>
      </p:graphicFrame>
      <p:graphicFrame>
        <p:nvGraphicFramePr>
          <p:cNvPr id="6" name="Tabell 5">
            <a:extLst>
              <a:ext uri="{FF2B5EF4-FFF2-40B4-BE49-F238E27FC236}">
                <a16:creationId xmlns:a16="http://schemas.microsoft.com/office/drawing/2014/main" id="{D7166161-14D9-023F-9331-8C5DF7AD65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088251"/>
              </p:ext>
            </p:extLst>
          </p:nvPr>
        </p:nvGraphicFramePr>
        <p:xfrm>
          <a:off x="1176541" y="5784530"/>
          <a:ext cx="9899877" cy="640080"/>
        </p:xfrm>
        <a:graphic>
          <a:graphicData uri="http://schemas.openxmlformats.org/drawingml/2006/table">
            <a:tbl>
              <a:tblPr/>
              <a:tblGrid>
                <a:gridCol w="9899877">
                  <a:extLst>
                    <a:ext uri="{9D8B030D-6E8A-4147-A177-3AD203B41FA5}">
                      <a16:colId xmlns:a16="http://schemas.microsoft.com/office/drawing/2014/main" val="2892385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dirty="0"/>
                        <a:t>[4] GEO Database, “GSE11761 </a:t>
                      </a:r>
                      <a:r>
                        <a:rPr lang="nb-NO" dirty="0" err="1"/>
                        <a:t>dataset</a:t>
                      </a:r>
                      <a:r>
                        <a:rPr lang="nb-NO" dirty="0"/>
                        <a:t>,” https://www.ncbi.nlm.nih.gov/geo/query/acc.cgi?acc=GSE11761, </a:t>
                      </a:r>
                      <a:r>
                        <a:rPr lang="nb-NO" dirty="0" err="1"/>
                        <a:t>accessed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Oct</a:t>
                      </a:r>
                      <a:r>
                        <a:rPr lang="nb-NO" dirty="0"/>
                        <a:t>. 2025.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938451"/>
                  </a:ext>
                </a:extLst>
              </a:tr>
            </a:tbl>
          </a:graphicData>
        </a:graphic>
      </p:graphicFrame>
      <p:graphicFrame>
        <p:nvGraphicFramePr>
          <p:cNvPr id="7" name="Tabell 6">
            <a:extLst>
              <a:ext uri="{FF2B5EF4-FFF2-40B4-BE49-F238E27FC236}">
                <a16:creationId xmlns:a16="http://schemas.microsoft.com/office/drawing/2014/main" id="{325F81BD-5586-3C0D-30D9-95065DE4F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316660"/>
              </p:ext>
            </p:extLst>
          </p:nvPr>
        </p:nvGraphicFramePr>
        <p:xfrm>
          <a:off x="0" y="5278777"/>
          <a:ext cx="10058400" cy="365760"/>
        </p:xfrm>
        <a:graphic>
          <a:graphicData uri="http://schemas.openxmlformats.org/drawingml/2006/table">
            <a:tbl>
              <a:tblPr/>
              <a:tblGrid>
                <a:gridCol w="10058400">
                  <a:extLst>
                    <a:ext uri="{9D8B030D-6E8A-4147-A177-3AD203B41FA5}">
                      <a16:colId xmlns:a16="http://schemas.microsoft.com/office/drawing/2014/main" val="28583664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b="1" dirty="0"/>
                        <a:t>Book</a:t>
                      </a:r>
                      <a:endParaRPr lang="nb-NO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650340"/>
                  </a:ext>
                </a:extLst>
              </a:tr>
            </a:tbl>
          </a:graphicData>
        </a:graphic>
      </p:graphicFrame>
      <p:graphicFrame>
        <p:nvGraphicFramePr>
          <p:cNvPr id="8" name="Tabell 7">
            <a:extLst>
              <a:ext uri="{FF2B5EF4-FFF2-40B4-BE49-F238E27FC236}">
                <a16:creationId xmlns:a16="http://schemas.microsoft.com/office/drawing/2014/main" id="{2A3719C3-9D11-5229-3CCA-36CFE18339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4125629"/>
              </p:ext>
            </p:extLst>
          </p:nvPr>
        </p:nvGraphicFramePr>
        <p:xfrm>
          <a:off x="1162277" y="5270621"/>
          <a:ext cx="10058400" cy="365760"/>
        </p:xfrm>
        <a:graphic>
          <a:graphicData uri="http://schemas.openxmlformats.org/drawingml/2006/table">
            <a:tbl>
              <a:tblPr/>
              <a:tblGrid>
                <a:gridCol w="10058400">
                  <a:extLst>
                    <a:ext uri="{9D8B030D-6E8A-4147-A177-3AD203B41FA5}">
                      <a16:colId xmlns:a16="http://schemas.microsoft.com/office/drawing/2014/main" val="11570346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[3] T. Anderson, </a:t>
                      </a:r>
                      <a:r>
                        <a:rPr lang="en-US" i="1" dirty="0"/>
                        <a:t>Introduction to Machine Learning in Genomics</a:t>
                      </a:r>
                      <a:r>
                        <a:rPr lang="en-US" dirty="0"/>
                        <a:t>, Springer, 2022.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2946194"/>
                  </a:ext>
                </a:extLst>
              </a:tr>
            </a:tbl>
          </a:graphicData>
        </a:graphic>
      </p:graphicFrame>
      <p:graphicFrame>
        <p:nvGraphicFramePr>
          <p:cNvPr id="9" name="Tabell 8">
            <a:extLst>
              <a:ext uri="{FF2B5EF4-FFF2-40B4-BE49-F238E27FC236}">
                <a16:creationId xmlns:a16="http://schemas.microsoft.com/office/drawing/2014/main" id="{B392FC6A-0EF6-F439-4F70-F9360956E8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2196694"/>
              </p:ext>
            </p:extLst>
          </p:nvPr>
        </p:nvGraphicFramePr>
        <p:xfrm>
          <a:off x="0" y="4662189"/>
          <a:ext cx="10058400" cy="640080"/>
        </p:xfrm>
        <a:graphic>
          <a:graphicData uri="http://schemas.openxmlformats.org/drawingml/2006/table">
            <a:tbl>
              <a:tblPr/>
              <a:tblGrid>
                <a:gridCol w="10058400">
                  <a:extLst>
                    <a:ext uri="{9D8B030D-6E8A-4147-A177-3AD203B41FA5}">
                      <a16:colId xmlns:a16="http://schemas.microsoft.com/office/drawing/2014/main" val="8298612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b="1" dirty="0"/>
                        <a:t>Conference </a:t>
                      </a:r>
                    </a:p>
                    <a:p>
                      <a:pPr>
                        <a:buNone/>
                      </a:pPr>
                      <a:r>
                        <a:rPr lang="nb-NO" b="1" dirty="0"/>
                        <a:t>Paper</a:t>
                      </a:r>
                      <a:endParaRPr lang="nb-NO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659260"/>
                  </a:ext>
                </a:extLst>
              </a:tr>
            </a:tbl>
          </a:graphicData>
        </a:graphic>
      </p:graphicFrame>
      <p:graphicFrame>
        <p:nvGraphicFramePr>
          <p:cNvPr id="10" name="Tabell 9">
            <a:extLst>
              <a:ext uri="{FF2B5EF4-FFF2-40B4-BE49-F238E27FC236}">
                <a16:creationId xmlns:a16="http://schemas.microsoft.com/office/drawing/2014/main" id="{AA2EFEA0-5ADB-046E-743A-5943A97D84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600004"/>
              </p:ext>
            </p:extLst>
          </p:nvPr>
        </p:nvGraphicFramePr>
        <p:xfrm>
          <a:off x="1162277" y="4674301"/>
          <a:ext cx="10058400" cy="640080"/>
        </p:xfrm>
        <a:graphic>
          <a:graphicData uri="http://schemas.openxmlformats.org/drawingml/2006/table">
            <a:tbl>
              <a:tblPr/>
              <a:tblGrid>
                <a:gridCol w="10058400">
                  <a:extLst>
                    <a:ext uri="{9D8B030D-6E8A-4147-A177-3AD203B41FA5}">
                      <a16:colId xmlns:a16="http://schemas.microsoft.com/office/drawing/2014/main" val="18015681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dirty="0"/>
                        <a:t>[2] M. R. Lee et al., “</a:t>
                      </a:r>
                      <a:r>
                        <a:rPr lang="nb-NO" dirty="0" err="1"/>
                        <a:t>Integrating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exercise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biology</a:t>
                      </a:r>
                      <a:r>
                        <a:rPr lang="nb-NO" dirty="0"/>
                        <a:t> and AI </a:t>
                      </a:r>
                      <a:r>
                        <a:rPr lang="nb-NO" dirty="0" err="1"/>
                        <a:t>modeling</a:t>
                      </a:r>
                      <a:r>
                        <a:rPr lang="nb-NO" dirty="0"/>
                        <a:t>,” in </a:t>
                      </a:r>
                      <a:r>
                        <a:rPr lang="nb-NO" i="1" dirty="0" err="1"/>
                        <a:t>Proc</a:t>
                      </a:r>
                      <a:r>
                        <a:rPr lang="nb-NO" i="1" dirty="0"/>
                        <a:t>. IEEE Int. </a:t>
                      </a:r>
                      <a:r>
                        <a:rPr lang="nb-NO" i="1" dirty="0" err="1"/>
                        <a:t>Conf</a:t>
                      </a:r>
                      <a:r>
                        <a:rPr lang="nb-NO" i="1" dirty="0"/>
                        <a:t>. Bioinformatics</a:t>
                      </a:r>
                      <a:r>
                        <a:rPr lang="nb-NO" dirty="0"/>
                        <a:t>, 2023, </a:t>
                      </a:r>
                      <a:r>
                        <a:rPr lang="nb-NO" dirty="0" err="1"/>
                        <a:t>pp</a:t>
                      </a:r>
                      <a:r>
                        <a:rPr lang="nb-NO" dirty="0"/>
                        <a:t>. 220–225.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98508"/>
                  </a:ext>
                </a:extLst>
              </a:tr>
            </a:tbl>
          </a:graphicData>
        </a:graphic>
      </p:graphicFrame>
      <p:graphicFrame>
        <p:nvGraphicFramePr>
          <p:cNvPr id="11" name="Tabell 10">
            <a:extLst>
              <a:ext uri="{FF2B5EF4-FFF2-40B4-BE49-F238E27FC236}">
                <a16:creationId xmlns:a16="http://schemas.microsoft.com/office/drawing/2014/main" id="{89C72663-DB84-0682-73B7-0386631020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333754"/>
              </p:ext>
            </p:extLst>
          </p:nvPr>
        </p:nvGraphicFramePr>
        <p:xfrm>
          <a:off x="0" y="4019047"/>
          <a:ext cx="10058400" cy="640080"/>
        </p:xfrm>
        <a:graphic>
          <a:graphicData uri="http://schemas.openxmlformats.org/drawingml/2006/table">
            <a:tbl>
              <a:tblPr/>
              <a:tblGrid>
                <a:gridCol w="10058400">
                  <a:extLst>
                    <a:ext uri="{9D8B030D-6E8A-4147-A177-3AD203B41FA5}">
                      <a16:colId xmlns:a16="http://schemas.microsoft.com/office/drawing/2014/main" val="9269713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b="1" dirty="0"/>
                        <a:t>Journal </a:t>
                      </a:r>
                    </a:p>
                    <a:p>
                      <a:pPr>
                        <a:buNone/>
                      </a:pPr>
                      <a:r>
                        <a:rPr lang="nb-NO" b="1" dirty="0" err="1"/>
                        <a:t>Article</a:t>
                      </a:r>
                      <a:endParaRPr lang="nb-NO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718957"/>
                  </a:ext>
                </a:extLst>
              </a:tr>
            </a:tbl>
          </a:graphicData>
        </a:graphic>
      </p:graphicFrame>
      <p:graphicFrame>
        <p:nvGraphicFramePr>
          <p:cNvPr id="12" name="Tabell 11">
            <a:extLst>
              <a:ext uri="{FF2B5EF4-FFF2-40B4-BE49-F238E27FC236}">
                <a16:creationId xmlns:a16="http://schemas.microsoft.com/office/drawing/2014/main" id="{322AB30D-63F4-D10C-394E-C6B9EB28F9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798481"/>
              </p:ext>
            </p:extLst>
          </p:nvPr>
        </p:nvGraphicFramePr>
        <p:xfrm>
          <a:off x="1162277" y="4026634"/>
          <a:ext cx="10058400" cy="640080"/>
        </p:xfrm>
        <a:graphic>
          <a:graphicData uri="http://schemas.openxmlformats.org/drawingml/2006/table">
            <a:tbl>
              <a:tblPr/>
              <a:tblGrid>
                <a:gridCol w="10058400">
                  <a:extLst>
                    <a:ext uri="{9D8B030D-6E8A-4147-A177-3AD203B41FA5}">
                      <a16:colId xmlns:a16="http://schemas.microsoft.com/office/drawing/2014/main" val="29110404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dirty="0"/>
                        <a:t>[1] J. D. </a:t>
                      </a:r>
                      <a:r>
                        <a:rPr lang="nb-NO" dirty="0" err="1"/>
                        <a:t>Doe</a:t>
                      </a:r>
                      <a:r>
                        <a:rPr lang="nb-NO" dirty="0"/>
                        <a:t> and A. B. Smith, “AI-driven </a:t>
                      </a:r>
                      <a:r>
                        <a:rPr lang="nb-NO" dirty="0" err="1"/>
                        <a:t>transcriptomic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analysis</a:t>
                      </a:r>
                      <a:r>
                        <a:rPr lang="nb-NO" dirty="0"/>
                        <a:t> in NSCLC,” </a:t>
                      </a:r>
                      <a:r>
                        <a:rPr lang="nb-NO" i="1" dirty="0"/>
                        <a:t>IEEE Trans. </a:t>
                      </a:r>
                      <a:r>
                        <a:rPr lang="nb-NO" i="1" dirty="0" err="1"/>
                        <a:t>Biomed</a:t>
                      </a:r>
                      <a:r>
                        <a:rPr lang="nb-NO" i="1" dirty="0"/>
                        <a:t>. Eng.</a:t>
                      </a:r>
                      <a:r>
                        <a:rPr lang="nb-NO" dirty="0"/>
                        <a:t>, vol. 71, no. 5, </a:t>
                      </a:r>
                      <a:r>
                        <a:rPr lang="nb-NO" dirty="0" err="1"/>
                        <a:t>pp</a:t>
                      </a:r>
                      <a:r>
                        <a:rPr lang="nb-NO" dirty="0"/>
                        <a:t>. 112–120, 2024.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719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0099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320C415-0CD5-5C54-EFAB-3822C77CE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Appendix: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2CC1A8D-93A9-B0B1-0233-438C6E67E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Code (not counted towards the 3-5 pages)</a:t>
            </a:r>
            <a:endParaRPr lang="nb-NO" dirty="0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BD1EAA2F-0AE4-1342-6B64-AC466E110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D99FE8D-F23E-4315-9473-C90F441FE926}" type="datetime1">
              <a:rPr lang="nb-NO" smtClean="0"/>
              <a:t>27.10.2025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121482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935_TF56160789" id="{5CED7DBD-5EBE-4679-8FF9-F1B1A861906C}" vid="{67043100-C02D-48B6-B8E3-F6637CD9A9A6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{89B8C6F6-0F7C-484E-9575-9A86B02EB643}TFf0a5ceae-4542-492d-822e-d65a94fb0e1ee5ffdf31_win32-0445d3f79bdb</Template>
  <TotalTime>1512</TotalTime>
  <Words>1916</Words>
  <Application>Microsoft Office PowerPoint</Application>
  <PresentationFormat>Widescreen</PresentationFormat>
  <Paragraphs>196</Paragraphs>
  <Slides>17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17</vt:i4>
      </vt:variant>
    </vt:vector>
  </HeadingPairs>
  <TitlesOfParts>
    <vt:vector size="21" baseType="lpstr">
      <vt:lpstr>Bookman Old Style</vt:lpstr>
      <vt:lpstr>Calibri</vt:lpstr>
      <vt:lpstr>Franklin Gothic Book</vt:lpstr>
      <vt:lpstr>1_RetrospectVTI</vt:lpstr>
      <vt:lpstr>Gruppe 6</vt:lpstr>
      <vt:lpstr>Deadlines</vt:lpstr>
      <vt:lpstr>Roles</vt:lpstr>
      <vt:lpstr>Roles</vt:lpstr>
      <vt:lpstr>Roles</vt:lpstr>
      <vt:lpstr>Roles</vt:lpstr>
      <vt:lpstr>What Is the IEEE Report Format?</vt:lpstr>
      <vt:lpstr>What We Need To Do</vt:lpstr>
      <vt:lpstr>Written Report: Abstract: (5%)  (150 words)</vt:lpstr>
      <vt:lpstr>Introduction (15-20%) (400-600 words)</vt:lpstr>
      <vt:lpstr>Methods (20-25%) (500-800 words)</vt:lpstr>
      <vt:lpstr>Results: (20-25%)  (500-800 words or 1 page in plots</vt:lpstr>
      <vt:lpstr>Discussion (20-25%)  (400-800 words)</vt:lpstr>
      <vt:lpstr>CONCLUTION (5-10%) 100-200 words</vt:lpstr>
      <vt:lpstr>References (5%)  150 words</vt:lpstr>
      <vt:lpstr>What is IEEE Style?</vt:lpstr>
      <vt:lpstr>Appendix: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Anders Normann Nielsen</dc:creator>
  <cp:lastModifiedBy>Anders Normann Nielsen</cp:lastModifiedBy>
  <cp:revision>3</cp:revision>
  <dcterms:created xsi:type="dcterms:W3CDTF">2025-10-22T07:27:56Z</dcterms:created>
  <dcterms:modified xsi:type="dcterms:W3CDTF">2025-10-27T11:07:54Z</dcterms:modified>
</cp:coreProperties>
</file>